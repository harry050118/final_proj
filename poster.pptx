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466" r:id="rId3"/>
  </p:sldIdLst>
  <p:sldSz cx="30239970" cy="4320032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1A2"/>
    <a:srgbClr val="ED6D00"/>
    <a:srgbClr val="10383C"/>
    <a:srgbClr val="ED7D31"/>
    <a:srgbClr val="5297BA"/>
    <a:srgbClr val="9FAFC8"/>
    <a:srgbClr val="C8D0D3"/>
    <a:srgbClr val="0576A4"/>
    <a:srgbClr val="00A4B3"/>
    <a:srgbClr val="A3CB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840" autoAdjust="0"/>
    <p:restoredTop sz="94660"/>
  </p:normalViewPr>
  <p:slideViewPr>
    <p:cSldViewPr snapToGrid="0">
      <p:cViewPr varScale="1">
        <p:scale>
          <a:sx n="19" d="100"/>
          <a:sy n="19" d="100"/>
        </p:scale>
        <p:origin x="2818" y="1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24BCC7-9C92-9A45-BED3-76B594CA6C8B}"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2349500" y="1143000"/>
            <a:ext cx="21590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C8F9F0-2A02-C844-90F2-2C6342D4B0C8}"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268022" y="7070108"/>
            <a:ext cx="25704245" cy="15040222"/>
          </a:xfrm>
        </p:spPr>
        <p:txBody>
          <a:bodyPr anchor="b"/>
          <a:lstStyle>
            <a:lvl1pPr algn="ctr">
              <a:defRPr sz="19845"/>
            </a:lvl1pPr>
          </a:lstStyle>
          <a:p>
            <a:r>
              <a:rPr lang="zh-CN" altLang="en-US"/>
              <a:t>单击此处编辑母版标题样式</a:t>
            </a:r>
            <a:endParaRPr lang="en-US" dirty="0"/>
          </a:p>
        </p:txBody>
      </p:sp>
      <p:sp>
        <p:nvSpPr>
          <p:cNvPr id="3" name="Subtitle 2"/>
          <p:cNvSpPr>
            <a:spLocks noGrp="1"/>
          </p:cNvSpPr>
          <p:nvPr>
            <p:ph type="subTitle" idx="1"/>
          </p:nvPr>
        </p:nvSpPr>
        <p:spPr>
          <a:xfrm>
            <a:off x="3780036" y="22690338"/>
            <a:ext cx="22680216" cy="10430151"/>
          </a:xfrm>
        </p:spPr>
        <p:txBody>
          <a:bodyPr/>
          <a:lstStyle>
            <a:lvl1pPr marL="0" indent="0" algn="ctr">
              <a:buNone/>
              <a:defRPr sz="7935"/>
            </a:lvl1pPr>
            <a:lvl2pPr marL="1511935" indent="0" algn="ctr">
              <a:buNone/>
              <a:defRPr sz="6615"/>
            </a:lvl2pPr>
            <a:lvl3pPr marL="3023870" indent="0" algn="ctr">
              <a:buNone/>
              <a:defRPr sz="5955"/>
            </a:lvl3pPr>
            <a:lvl4pPr marL="4535805" indent="0" algn="ctr">
              <a:buNone/>
              <a:defRPr sz="5290"/>
            </a:lvl4pPr>
            <a:lvl5pPr marL="6047740" indent="0" algn="ctr">
              <a:buNone/>
              <a:defRPr sz="5290"/>
            </a:lvl5pPr>
            <a:lvl6pPr marL="7560310" indent="0" algn="ctr">
              <a:buNone/>
              <a:defRPr sz="5290"/>
            </a:lvl6pPr>
            <a:lvl7pPr marL="9072245" indent="0" algn="ctr">
              <a:buNone/>
              <a:defRPr sz="5290"/>
            </a:lvl7pPr>
            <a:lvl8pPr marL="10584180" indent="0" algn="ctr">
              <a:buNone/>
              <a:defRPr sz="5290"/>
            </a:lvl8pPr>
            <a:lvl9pPr marL="12096115" indent="0" algn="ctr">
              <a:buNone/>
              <a:defRPr sz="529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3DB7F8-A6D1-47A9-A93A-3E8EAE0F06F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D6B62BE-74FF-4272-BDC0-3D043B4987C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4C3DB7F8-A6D1-47A9-A93A-3E8EAE0F06F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D6B62BE-74FF-4272-BDC0-3D043B4987C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063272" y="10770172"/>
            <a:ext cx="26082248" cy="17970262"/>
          </a:xfrm>
        </p:spPr>
        <p:txBody>
          <a:bodyPr anchor="b"/>
          <a:lstStyle>
            <a:lvl1pPr>
              <a:defRPr sz="19845"/>
            </a:lvl1pPr>
          </a:lstStyle>
          <a:p>
            <a:r>
              <a:rPr lang="zh-CN" altLang="en-US"/>
              <a:t>单击此处编辑母版标题样式</a:t>
            </a:r>
            <a:endParaRPr lang="en-US" dirty="0"/>
          </a:p>
        </p:txBody>
      </p:sp>
      <p:sp>
        <p:nvSpPr>
          <p:cNvPr id="3" name="Text Placeholder 2"/>
          <p:cNvSpPr>
            <a:spLocks noGrp="1"/>
          </p:cNvSpPr>
          <p:nvPr>
            <p:ph type="body" idx="1"/>
          </p:nvPr>
        </p:nvSpPr>
        <p:spPr>
          <a:xfrm>
            <a:off x="2063272" y="28910440"/>
            <a:ext cx="26082248" cy="9450136"/>
          </a:xfrm>
        </p:spPr>
        <p:txBody>
          <a:bodyPr/>
          <a:lstStyle>
            <a:lvl1pPr marL="0" indent="0">
              <a:buNone/>
              <a:defRPr sz="7935">
                <a:solidFill>
                  <a:schemeClr val="tx1"/>
                </a:solidFill>
              </a:defRPr>
            </a:lvl1pPr>
            <a:lvl2pPr marL="1511935" indent="0">
              <a:buNone/>
              <a:defRPr sz="6615">
                <a:solidFill>
                  <a:schemeClr val="tx1">
                    <a:tint val="75000"/>
                  </a:schemeClr>
                </a:solidFill>
              </a:defRPr>
            </a:lvl2pPr>
            <a:lvl3pPr marL="3023870" indent="0">
              <a:buNone/>
              <a:defRPr sz="5955">
                <a:solidFill>
                  <a:schemeClr val="tx1">
                    <a:tint val="75000"/>
                  </a:schemeClr>
                </a:solidFill>
              </a:defRPr>
            </a:lvl3pPr>
            <a:lvl4pPr marL="4535805" indent="0">
              <a:buNone/>
              <a:defRPr sz="5290">
                <a:solidFill>
                  <a:schemeClr val="tx1">
                    <a:tint val="75000"/>
                  </a:schemeClr>
                </a:solidFill>
              </a:defRPr>
            </a:lvl4pPr>
            <a:lvl5pPr marL="6047740" indent="0">
              <a:buNone/>
              <a:defRPr sz="5290">
                <a:solidFill>
                  <a:schemeClr val="tx1">
                    <a:tint val="75000"/>
                  </a:schemeClr>
                </a:solidFill>
              </a:defRPr>
            </a:lvl5pPr>
            <a:lvl6pPr marL="7560310" indent="0">
              <a:buNone/>
              <a:defRPr sz="5290">
                <a:solidFill>
                  <a:schemeClr val="tx1">
                    <a:tint val="75000"/>
                  </a:schemeClr>
                </a:solidFill>
              </a:defRPr>
            </a:lvl6pPr>
            <a:lvl7pPr marL="9072245" indent="0">
              <a:buNone/>
              <a:defRPr sz="5290">
                <a:solidFill>
                  <a:schemeClr val="tx1">
                    <a:tint val="75000"/>
                  </a:schemeClr>
                </a:solidFill>
              </a:defRPr>
            </a:lvl7pPr>
            <a:lvl8pPr marL="10584180" indent="0">
              <a:buNone/>
              <a:defRPr sz="5290">
                <a:solidFill>
                  <a:schemeClr val="tx1">
                    <a:tint val="75000"/>
                  </a:schemeClr>
                </a:solidFill>
              </a:defRPr>
            </a:lvl8pPr>
            <a:lvl9pPr marL="12096115" indent="0">
              <a:buNone/>
              <a:defRPr sz="529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4C3DB7F8-A6D1-47A9-A93A-3E8EAE0F06F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D6B62BE-74FF-4272-BDC0-3D043B4987C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2079020" y="11500170"/>
            <a:ext cx="12852122" cy="2741040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15309146" y="11500170"/>
            <a:ext cx="12852122" cy="2741040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4C3DB7F8-A6D1-47A9-A93A-3E8EAE0F06F9}"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D6B62BE-74FF-4272-BDC0-3D043B4987C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2082959" y="2300044"/>
            <a:ext cx="26082248" cy="8350126"/>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2082962" y="10590160"/>
            <a:ext cx="12793057" cy="5190073"/>
          </a:xfrm>
        </p:spPr>
        <p:txBody>
          <a:bodyPr anchor="b"/>
          <a:lstStyle>
            <a:lvl1pPr marL="0" indent="0">
              <a:buNone/>
              <a:defRPr sz="7935" b="1"/>
            </a:lvl1pPr>
            <a:lvl2pPr marL="1511935" indent="0">
              <a:buNone/>
              <a:defRPr sz="6615" b="1"/>
            </a:lvl2pPr>
            <a:lvl3pPr marL="3023870" indent="0">
              <a:buNone/>
              <a:defRPr sz="5955" b="1"/>
            </a:lvl3pPr>
            <a:lvl4pPr marL="4535805" indent="0">
              <a:buNone/>
              <a:defRPr sz="5290" b="1"/>
            </a:lvl4pPr>
            <a:lvl5pPr marL="6047740" indent="0">
              <a:buNone/>
              <a:defRPr sz="5290" b="1"/>
            </a:lvl5pPr>
            <a:lvl6pPr marL="7560310" indent="0">
              <a:buNone/>
              <a:defRPr sz="5290" b="1"/>
            </a:lvl6pPr>
            <a:lvl7pPr marL="9072245" indent="0">
              <a:buNone/>
              <a:defRPr sz="5290" b="1"/>
            </a:lvl7pPr>
            <a:lvl8pPr marL="10584180" indent="0">
              <a:buNone/>
              <a:defRPr sz="5290" b="1"/>
            </a:lvl8pPr>
            <a:lvl9pPr marL="12096115" indent="0">
              <a:buNone/>
              <a:defRPr sz="529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2082962" y="15780233"/>
            <a:ext cx="12793057" cy="23210346"/>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15309148" y="10590160"/>
            <a:ext cx="12856061" cy="5190073"/>
          </a:xfrm>
        </p:spPr>
        <p:txBody>
          <a:bodyPr anchor="b"/>
          <a:lstStyle>
            <a:lvl1pPr marL="0" indent="0">
              <a:buNone/>
              <a:defRPr sz="7935" b="1"/>
            </a:lvl1pPr>
            <a:lvl2pPr marL="1511935" indent="0">
              <a:buNone/>
              <a:defRPr sz="6615" b="1"/>
            </a:lvl2pPr>
            <a:lvl3pPr marL="3023870" indent="0">
              <a:buNone/>
              <a:defRPr sz="5955" b="1"/>
            </a:lvl3pPr>
            <a:lvl4pPr marL="4535805" indent="0">
              <a:buNone/>
              <a:defRPr sz="5290" b="1"/>
            </a:lvl4pPr>
            <a:lvl5pPr marL="6047740" indent="0">
              <a:buNone/>
              <a:defRPr sz="5290" b="1"/>
            </a:lvl5pPr>
            <a:lvl6pPr marL="7560310" indent="0">
              <a:buNone/>
              <a:defRPr sz="5290" b="1"/>
            </a:lvl6pPr>
            <a:lvl7pPr marL="9072245" indent="0">
              <a:buNone/>
              <a:defRPr sz="5290" b="1"/>
            </a:lvl7pPr>
            <a:lvl8pPr marL="10584180" indent="0">
              <a:buNone/>
              <a:defRPr sz="5290" b="1"/>
            </a:lvl8pPr>
            <a:lvl9pPr marL="12096115" indent="0">
              <a:buNone/>
              <a:defRPr sz="529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15309148" y="15780233"/>
            <a:ext cx="12856061" cy="23210346"/>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4C3DB7F8-A6D1-47A9-A93A-3E8EAE0F06F9}"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D6B62BE-74FF-4272-BDC0-3D043B4987C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3DB7F8-A6D1-47A9-A93A-3E8EAE0F06F9}"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D6B62BE-74FF-4272-BDC0-3D043B4987C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3DB7F8-A6D1-47A9-A93A-3E8EAE0F06F9}"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D6B62BE-74FF-4272-BDC0-3D043B4987C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2082959" y="2880042"/>
            <a:ext cx="9753280" cy="10080149"/>
          </a:xfrm>
        </p:spPr>
        <p:txBody>
          <a:bodyPr anchor="b"/>
          <a:lstStyle>
            <a:lvl1pPr>
              <a:defRPr sz="10585"/>
            </a:lvl1pPr>
          </a:lstStyle>
          <a:p>
            <a:r>
              <a:rPr lang="zh-CN" altLang="en-US"/>
              <a:t>单击此处编辑母版标题样式</a:t>
            </a:r>
            <a:endParaRPr lang="en-US" dirty="0"/>
          </a:p>
        </p:txBody>
      </p:sp>
      <p:sp>
        <p:nvSpPr>
          <p:cNvPr id="3" name="Content Placeholder 2"/>
          <p:cNvSpPr>
            <a:spLocks noGrp="1"/>
          </p:cNvSpPr>
          <p:nvPr>
            <p:ph idx="1"/>
          </p:nvPr>
        </p:nvSpPr>
        <p:spPr>
          <a:xfrm>
            <a:off x="12856061" y="6220102"/>
            <a:ext cx="15309146" cy="30700453"/>
          </a:xfrm>
        </p:spPr>
        <p:txBody>
          <a:bodyPr/>
          <a:lstStyle>
            <a:lvl1pPr>
              <a:defRPr sz="10585"/>
            </a:lvl1pPr>
            <a:lvl2pPr>
              <a:defRPr sz="9260"/>
            </a:lvl2pPr>
            <a:lvl3pPr>
              <a:defRPr sz="7935"/>
            </a:lvl3pPr>
            <a:lvl4pPr>
              <a:defRPr sz="6615"/>
            </a:lvl4pPr>
            <a:lvl5pPr>
              <a:defRPr sz="6615"/>
            </a:lvl5pPr>
            <a:lvl6pPr>
              <a:defRPr sz="6615"/>
            </a:lvl6pPr>
            <a:lvl7pPr>
              <a:defRPr sz="6615"/>
            </a:lvl7pPr>
            <a:lvl8pPr>
              <a:defRPr sz="6615"/>
            </a:lvl8pPr>
            <a:lvl9pPr>
              <a:defRPr sz="6615"/>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2082959" y="12960191"/>
            <a:ext cx="9753280" cy="24010358"/>
          </a:xfrm>
        </p:spPr>
        <p:txBody>
          <a:bodyPr/>
          <a:lstStyle>
            <a:lvl1pPr marL="0" indent="0">
              <a:buNone/>
              <a:defRPr sz="5290"/>
            </a:lvl1pPr>
            <a:lvl2pPr marL="1511935" indent="0">
              <a:buNone/>
              <a:defRPr sz="4630"/>
            </a:lvl2pPr>
            <a:lvl3pPr marL="3023870" indent="0">
              <a:buNone/>
              <a:defRPr sz="3970"/>
            </a:lvl3pPr>
            <a:lvl4pPr marL="4535805" indent="0">
              <a:buNone/>
              <a:defRPr sz="3305"/>
            </a:lvl4pPr>
            <a:lvl5pPr marL="6047740" indent="0">
              <a:buNone/>
              <a:defRPr sz="3305"/>
            </a:lvl5pPr>
            <a:lvl6pPr marL="7560310" indent="0">
              <a:buNone/>
              <a:defRPr sz="3305"/>
            </a:lvl6pPr>
            <a:lvl7pPr marL="9072245" indent="0">
              <a:buNone/>
              <a:defRPr sz="3305"/>
            </a:lvl7pPr>
            <a:lvl8pPr marL="10584180" indent="0">
              <a:buNone/>
              <a:defRPr sz="3305"/>
            </a:lvl8pPr>
            <a:lvl9pPr marL="12096115" indent="0">
              <a:buNone/>
              <a:defRPr sz="330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4C3DB7F8-A6D1-47A9-A93A-3E8EAE0F06F9}"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D6B62BE-74FF-4272-BDC0-3D043B4987C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082959" y="2880042"/>
            <a:ext cx="9753280" cy="10080149"/>
          </a:xfrm>
        </p:spPr>
        <p:txBody>
          <a:bodyPr anchor="b"/>
          <a:lstStyle>
            <a:lvl1pPr>
              <a:defRPr sz="10585"/>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2856061" y="6220102"/>
            <a:ext cx="15309146" cy="30700453"/>
          </a:xfrm>
        </p:spPr>
        <p:txBody>
          <a:bodyPr anchor="t"/>
          <a:lstStyle>
            <a:lvl1pPr marL="0" indent="0">
              <a:buNone/>
              <a:defRPr sz="10585"/>
            </a:lvl1pPr>
            <a:lvl2pPr marL="1511935" indent="0">
              <a:buNone/>
              <a:defRPr sz="9260"/>
            </a:lvl2pPr>
            <a:lvl3pPr marL="3023870" indent="0">
              <a:buNone/>
              <a:defRPr sz="7935"/>
            </a:lvl3pPr>
            <a:lvl4pPr marL="4535805" indent="0">
              <a:buNone/>
              <a:defRPr sz="6615"/>
            </a:lvl4pPr>
            <a:lvl5pPr marL="6047740" indent="0">
              <a:buNone/>
              <a:defRPr sz="6615"/>
            </a:lvl5pPr>
            <a:lvl6pPr marL="7560310" indent="0">
              <a:buNone/>
              <a:defRPr sz="6615"/>
            </a:lvl6pPr>
            <a:lvl7pPr marL="9072245" indent="0">
              <a:buNone/>
              <a:defRPr sz="6615"/>
            </a:lvl7pPr>
            <a:lvl8pPr marL="10584180" indent="0">
              <a:buNone/>
              <a:defRPr sz="6615"/>
            </a:lvl8pPr>
            <a:lvl9pPr marL="12096115" indent="0">
              <a:buNone/>
              <a:defRPr sz="6615"/>
            </a:lvl9pPr>
          </a:lstStyle>
          <a:p>
            <a:r>
              <a:rPr lang="zh-CN" altLang="en-US"/>
              <a:t>单击图标添加图片</a:t>
            </a:r>
            <a:endParaRPr lang="en-US" dirty="0"/>
          </a:p>
        </p:txBody>
      </p:sp>
      <p:sp>
        <p:nvSpPr>
          <p:cNvPr id="4" name="Text Placeholder 3"/>
          <p:cNvSpPr>
            <a:spLocks noGrp="1"/>
          </p:cNvSpPr>
          <p:nvPr>
            <p:ph type="body" sz="half" idx="2"/>
          </p:nvPr>
        </p:nvSpPr>
        <p:spPr>
          <a:xfrm>
            <a:off x="2082959" y="12960191"/>
            <a:ext cx="9753280" cy="24010358"/>
          </a:xfrm>
        </p:spPr>
        <p:txBody>
          <a:bodyPr/>
          <a:lstStyle>
            <a:lvl1pPr marL="0" indent="0">
              <a:buNone/>
              <a:defRPr sz="5290"/>
            </a:lvl1pPr>
            <a:lvl2pPr marL="1511935" indent="0">
              <a:buNone/>
              <a:defRPr sz="4630"/>
            </a:lvl2pPr>
            <a:lvl3pPr marL="3023870" indent="0">
              <a:buNone/>
              <a:defRPr sz="3970"/>
            </a:lvl3pPr>
            <a:lvl4pPr marL="4535805" indent="0">
              <a:buNone/>
              <a:defRPr sz="3305"/>
            </a:lvl4pPr>
            <a:lvl5pPr marL="6047740" indent="0">
              <a:buNone/>
              <a:defRPr sz="3305"/>
            </a:lvl5pPr>
            <a:lvl6pPr marL="7560310" indent="0">
              <a:buNone/>
              <a:defRPr sz="3305"/>
            </a:lvl6pPr>
            <a:lvl7pPr marL="9072245" indent="0">
              <a:buNone/>
              <a:defRPr sz="3305"/>
            </a:lvl7pPr>
            <a:lvl8pPr marL="10584180" indent="0">
              <a:buNone/>
              <a:defRPr sz="3305"/>
            </a:lvl8pPr>
            <a:lvl9pPr marL="12096115" indent="0">
              <a:buNone/>
              <a:defRPr sz="330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4C3DB7F8-A6D1-47A9-A93A-3E8EAE0F06F9}"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D6B62BE-74FF-4272-BDC0-3D043B4987C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4C3DB7F8-A6D1-47A9-A93A-3E8EAE0F06F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D6B62BE-74FF-4272-BDC0-3D043B4987C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40708" y="2300034"/>
            <a:ext cx="6520562" cy="3661054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2079021" y="2300034"/>
            <a:ext cx="19183683" cy="3661054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4C3DB7F8-A6D1-47A9-A93A-3E8EAE0F06F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D6B62BE-74FF-4272-BDC0-3D043B4987C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79020" y="2300044"/>
            <a:ext cx="26082248" cy="8350126"/>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2079020" y="11500170"/>
            <a:ext cx="26082248" cy="2741040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2079020" y="40040601"/>
            <a:ext cx="6804065" cy="2300034"/>
          </a:xfrm>
          <a:prstGeom prst="rect">
            <a:avLst/>
          </a:prstGeom>
        </p:spPr>
        <p:txBody>
          <a:bodyPr vert="horz" lIns="91440" tIns="45720" rIns="91440" bIns="45720" rtlCol="0" anchor="ctr"/>
          <a:lstStyle>
            <a:lvl1pPr algn="l">
              <a:defRPr sz="3970">
                <a:solidFill>
                  <a:schemeClr val="tx1">
                    <a:tint val="75000"/>
                  </a:schemeClr>
                </a:solidFill>
              </a:defRPr>
            </a:lvl1pPr>
          </a:lstStyle>
          <a:p>
            <a:fld id="{4C3DB7F8-A6D1-47A9-A93A-3E8EAE0F06F9}" type="datetimeFigureOut">
              <a:rPr lang="zh-CN" altLang="en-US" smtClean="0"/>
            </a:fld>
            <a:endParaRPr lang="zh-CN" altLang="en-US"/>
          </a:p>
        </p:txBody>
      </p:sp>
      <p:sp>
        <p:nvSpPr>
          <p:cNvPr id="5" name="Footer Placeholder 4"/>
          <p:cNvSpPr>
            <a:spLocks noGrp="1"/>
          </p:cNvSpPr>
          <p:nvPr>
            <p:ph type="ftr" sz="quarter" idx="3"/>
          </p:nvPr>
        </p:nvSpPr>
        <p:spPr>
          <a:xfrm>
            <a:off x="10017096" y="40040601"/>
            <a:ext cx="10206097" cy="2300034"/>
          </a:xfrm>
          <a:prstGeom prst="rect">
            <a:avLst/>
          </a:prstGeom>
        </p:spPr>
        <p:txBody>
          <a:bodyPr vert="horz" lIns="91440" tIns="45720" rIns="91440" bIns="45720" rtlCol="0" anchor="ctr"/>
          <a:lstStyle>
            <a:lvl1pPr algn="ctr">
              <a:defRPr sz="397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21357203" y="40040601"/>
            <a:ext cx="6804065" cy="2300034"/>
          </a:xfrm>
          <a:prstGeom prst="rect">
            <a:avLst/>
          </a:prstGeom>
        </p:spPr>
        <p:txBody>
          <a:bodyPr vert="horz" lIns="91440" tIns="45720" rIns="91440" bIns="45720" rtlCol="0" anchor="ctr"/>
          <a:lstStyle>
            <a:lvl1pPr algn="r">
              <a:defRPr sz="3970">
                <a:solidFill>
                  <a:schemeClr val="tx1">
                    <a:tint val="75000"/>
                  </a:schemeClr>
                </a:solidFill>
              </a:defRPr>
            </a:lvl1pPr>
          </a:lstStyle>
          <a:p>
            <a:fld id="{AD6B62BE-74FF-4272-BDC0-3D043B4987C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023870" rtl="0" eaLnBrk="1" latinLnBrk="0" hangingPunct="1">
        <a:lnSpc>
          <a:spcPct val="90000"/>
        </a:lnSpc>
        <a:spcBef>
          <a:spcPct val="0"/>
        </a:spcBef>
        <a:buNone/>
        <a:defRPr sz="14550" kern="1200">
          <a:solidFill>
            <a:schemeClr val="tx1"/>
          </a:solidFill>
          <a:latin typeface="+mj-lt"/>
          <a:ea typeface="+mj-ea"/>
          <a:cs typeface="+mj-cs"/>
        </a:defRPr>
      </a:lvl1pPr>
    </p:titleStyle>
    <p:bodyStyle>
      <a:lvl1pPr marL="756285" indent="-756285" algn="l" defTabSz="3023870" rtl="0" eaLnBrk="1" latinLnBrk="0" hangingPunct="1">
        <a:lnSpc>
          <a:spcPct val="90000"/>
        </a:lnSpc>
        <a:spcBef>
          <a:spcPts val="3305"/>
        </a:spcBef>
        <a:buFont typeface="Arial" panose="020B0604020202020204" pitchFamily="34" charset="0"/>
        <a:buChar char="•"/>
        <a:defRPr sz="9260" kern="1200">
          <a:solidFill>
            <a:schemeClr val="tx1"/>
          </a:solidFill>
          <a:latin typeface="+mn-lt"/>
          <a:ea typeface="+mn-ea"/>
          <a:cs typeface="+mn-cs"/>
        </a:defRPr>
      </a:lvl1pPr>
      <a:lvl2pPr marL="2268220" indent="-756285" algn="l" defTabSz="3023870" rtl="0" eaLnBrk="1" latinLnBrk="0" hangingPunct="1">
        <a:lnSpc>
          <a:spcPct val="90000"/>
        </a:lnSpc>
        <a:spcBef>
          <a:spcPts val="1655"/>
        </a:spcBef>
        <a:buFont typeface="Arial" panose="020B0604020202020204" pitchFamily="34" charset="0"/>
        <a:buChar char="•"/>
        <a:defRPr sz="7935" kern="1200">
          <a:solidFill>
            <a:schemeClr val="tx1"/>
          </a:solidFill>
          <a:latin typeface="+mn-lt"/>
          <a:ea typeface="+mn-ea"/>
          <a:cs typeface="+mn-cs"/>
        </a:defRPr>
      </a:lvl2pPr>
      <a:lvl3pPr marL="3780155" indent="-756285" algn="l" defTabSz="3023870" rtl="0" eaLnBrk="1" latinLnBrk="0" hangingPunct="1">
        <a:lnSpc>
          <a:spcPct val="90000"/>
        </a:lnSpc>
        <a:spcBef>
          <a:spcPts val="1655"/>
        </a:spcBef>
        <a:buFont typeface="Arial" panose="020B0604020202020204" pitchFamily="34" charset="0"/>
        <a:buChar char="•"/>
        <a:defRPr sz="6615" kern="1200">
          <a:solidFill>
            <a:schemeClr val="tx1"/>
          </a:solidFill>
          <a:latin typeface="+mn-lt"/>
          <a:ea typeface="+mn-ea"/>
          <a:cs typeface="+mn-cs"/>
        </a:defRPr>
      </a:lvl3pPr>
      <a:lvl4pPr marL="5292090" indent="-756285" algn="l" defTabSz="3023870" rtl="0" eaLnBrk="1" latinLnBrk="0" hangingPunct="1">
        <a:lnSpc>
          <a:spcPct val="90000"/>
        </a:lnSpc>
        <a:spcBef>
          <a:spcPts val="1655"/>
        </a:spcBef>
        <a:buFont typeface="Arial" panose="020B0604020202020204" pitchFamily="34" charset="0"/>
        <a:buChar char="•"/>
        <a:defRPr sz="5955" kern="1200">
          <a:solidFill>
            <a:schemeClr val="tx1"/>
          </a:solidFill>
          <a:latin typeface="+mn-lt"/>
          <a:ea typeface="+mn-ea"/>
          <a:cs typeface="+mn-cs"/>
        </a:defRPr>
      </a:lvl4pPr>
      <a:lvl5pPr marL="6804025" indent="-756285" algn="l" defTabSz="3023870" rtl="0" eaLnBrk="1" latinLnBrk="0" hangingPunct="1">
        <a:lnSpc>
          <a:spcPct val="90000"/>
        </a:lnSpc>
        <a:spcBef>
          <a:spcPts val="1655"/>
        </a:spcBef>
        <a:buFont typeface="Arial" panose="020B0604020202020204" pitchFamily="34" charset="0"/>
        <a:buChar char="•"/>
        <a:defRPr sz="5955" kern="1200">
          <a:solidFill>
            <a:schemeClr val="tx1"/>
          </a:solidFill>
          <a:latin typeface="+mn-lt"/>
          <a:ea typeface="+mn-ea"/>
          <a:cs typeface="+mn-cs"/>
        </a:defRPr>
      </a:lvl5pPr>
      <a:lvl6pPr marL="8315960" indent="-756285" algn="l" defTabSz="3023870" rtl="0" eaLnBrk="1" latinLnBrk="0" hangingPunct="1">
        <a:lnSpc>
          <a:spcPct val="90000"/>
        </a:lnSpc>
        <a:spcBef>
          <a:spcPts val="1655"/>
        </a:spcBef>
        <a:buFont typeface="Arial" panose="020B0604020202020204" pitchFamily="34" charset="0"/>
        <a:buChar char="•"/>
        <a:defRPr sz="5955" kern="1200">
          <a:solidFill>
            <a:schemeClr val="tx1"/>
          </a:solidFill>
          <a:latin typeface="+mn-lt"/>
          <a:ea typeface="+mn-ea"/>
          <a:cs typeface="+mn-cs"/>
        </a:defRPr>
      </a:lvl6pPr>
      <a:lvl7pPr marL="9827895" indent="-756285" algn="l" defTabSz="3023870" rtl="0" eaLnBrk="1" latinLnBrk="0" hangingPunct="1">
        <a:lnSpc>
          <a:spcPct val="90000"/>
        </a:lnSpc>
        <a:spcBef>
          <a:spcPts val="1655"/>
        </a:spcBef>
        <a:buFont typeface="Arial" panose="020B0604020202020204" pitchFamily="34" charset="0"/>
        <a:buChar char="•"/>
        <a:defRPr sz="5955" kern="1200">
          <a:solidFill>
            <a:schemeClr val="tx1"/>
          </a:solidFill>
          <a:latin typeface="+mn-lt"/>
          <a:ea typeface="+mn-ea"/>
          <a:cs typeface="+mn-cs"/>
        </a:defRPr>
      </a:lvl7pPr>
      <a:lvl8pPr marL="11339830" indent="-756285" algn="l" defTabSz="3023870" rtl="0" eaLnBrk="1" latinLnBrk="0" hangingPunct="1">
        <a:lnSpc>
          <a:spcPct val="90000"/>
        </a:lnSpc>
        <a:spcBef>
          <a:spcPts val="1655"/>
        </a:spcBef>
        <a:buFont typeface="Arial" panose="020B0604020202020204" pitchFamily="34" charset="0"/>
        <a:buChar char="•"/>
        <a:defRPr sz="5955" kern="1200">
          <a:solidFill>
            <a:schemeClr val="tx1"/>
          </a:solidFill>
          <a:latin typeface="+mn-lt"/>
          <a:ea typeface="+mn-ea"/>
          <a:cs typeface="+mn-cs"/>
        </a:defRPr>
      </a:lvl8pPr>
      <a:lvl9pPr marL="12851765" indent="-756285" algn="l" defTabSz="3023870" rtl="0" eaLnBrk="1" latinLnBrk="0" hangingPunct="1">
        <a:lnSpc>
          <a:spcPct val="90000"/>
        </a:lnSpc>
        <a:spcBef>
          <a:spcPts val="1655"/>
        </a:spcBef>
        <a:buFont typeface="Arial" panose="020B0604020202020204" pitchFamily="34" charset="0"/>
        <a:buChar char="•"/>
        <a:defRPr sz="5955" kern="1200">
          <a:solidFill>
            <a:schemeClr val="tx1"/>
          </a:solidFill>
          <a:latin typeface="+mn-lt"/>
          <a:ea typeface="+mn-ea"/>
          <a:cs typeface="+mn-cs"/>
        </a:defRPr>
      </a:lvl9pPr>
    </p:bodyStyle>
    <p:otherStyle>
      <a:defPPr>
        <a:defRPr lang="en-US"/>
      </a:defPPr>
      <a:lvl1pPr marL="0" algn="l" defTabSz="3023870" rtl="0" eaLnBrk="1" latinLnBrk="0" hangingPunct="1">
        <a:defRPr sz="5955" kern="1200">
          <a:solidFill>
            <a:schemeClr val="tx1"/>
          </a:solidFill>
          <a:latin typeface="+mn-lt"/>
          <a:ea typeface="+mn-ea"/>
          <a:cs typeface="+mn-cs"/>
        </a:defRPr>
      </a:lvl1pPr>
      <a:lvl2pPr marL="1511935" algn="l" defTabSz="3023870" rtl="0" eaLnBrk="1" latinLnBrk="0" hangingPunct="1">
        <a:defRPr sz="5955" kern="1200">
          <a:solidFill>
            <a:schemeClr val="tx1"/>
          </a:solidFill>
          <a:latin typeface="+mn-lt"/>
          <a:ea typeface="+mn-ea"/>
          <a:cs typeface="+mn-cs"/>
        </a:defRPr>
      </a:lvl2pPr>
      <a:lvl3pPr marL="3023870" algn="l" defTabSz="3023870" rtl="0" eaLnBrk="1" latinLnBrk="0" hangingPunct="1">
        <a:defRPr sz="5955" kern="1200">
          <a:solidFill>
            <a:schemeClr val="tx1"/>
          </a:solidFill>
          <a:latin typeface="+mn-lt"/>
          <a:ea typeface="+mn-ea"/>
          <a:cs typeface="+mn-cs"/>
        </a:defRPr>
      </a:lvl3pPr>
      <a:lvl4pPr marL="4535805" algn="l" defTabSz="3023870" rtl="0" eaLnBrk="1" latinLnBrk="0" hangingPunct="1">
        <a:defRPr sz="5955" kern="1200">
          <a:solidFill>
            <a:schemeClr val="tx1"/>
          </a:solidFill>
          <a:latin typeface="+mn-lt"/>
          <a:ea typeface="+mn-ea"/>
          <a:cs typeface="+mn-cs"/>
        </a:defRPr>
      </a:lvl4pPr>
      <a:lvl5pPr marL="6047740" algn="l" defTabSz="3023870" rtl="0" eaLnBrk="1" latinLnBrk="0" hangingPunct="1">
        <a:defRPr sz="5955" kern="1200">
          <a:solidFill>
            <a:schemeClr val="tx1"/>
          </a:solidFill>
          <a:latin typeface="+mn-lt"/>
          <a:ea typeface="+mn-ea"/>
          <a:cs typeface="+mn-cs"/>
        </a:defRPr>
      </a:lvl5pPr>
      <a:lvl6pPr marL="7560310" algn="l" defTabSz="3023870" rtl="0" eaLnBrk="1" latinLnBrk="0" hangingPunct="1">
        <a:defRPr sz="5955" kern="1200">
          <a:solidFill>
            <a:schemeClr val="tx1"/>
          </a:solidFill>
          <a:latin typeface="+mn-lt"/>
          <a:ea typeface="+mn-ea"/>
          <a:cs typeface="+mn-cs"/>
        </a:defRPr>
      </a:lvl6pPr>
      <a:lvl7pPr marL="9072245" algn="l" defTabSz="3023870" rtl="0" eaLnBrk="1" latinLnBrk="0" hangingPunct="1">
        <a:defRPr sz="5955" kern="1200">
          <a:solidFill>
            <a:schemeClr val="tx1"/>
          </a:solidFill>
          <a:latin typeface="+mn-lt"/>
          <a:ea typeface="+mn-ea"/>
          <a:cs typeface="+mn-cs"/>
        </a:defRPr>
      </a:lvl7pPr>
      <a:lvl8pPr marL="10584180" algn="l" defTabSz="3023870" rtl="0" eaLnBrk="1" latinLnBrk="0" hangingPunct="1">
        <a:defRPr sz="5955" kern="1200">
          <a:solidFill>
            <a:schemeClr val="tx1"/>
          </a:solidFill>
          <a:latin typeface="+mn-lt"/>
          <a:ea typeface="+mn-ea"/>
          <a:cs typeface="+mn-cs"/>
        </a:defRPr>
      </a:lvl8pPr>
      <a:lvl9pPr marL="12096115" algn="l" defTabSz="3023870" rtl="0" eaLnBrk="1" latinLnBrk="0" hangingPunct="1">
        <a:defRPr sz="595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图片 47" descr="clean_search_overall_by_task"/>
          <p:cNvPicPr>
            <a:picLocks noChangeAspect="1"/>
          </p:cNvPicPr>
          <p:nvPr/>
        </p:nvPicPr>
        <p:blipFill>
          <a:blip r:embed="rId1"/>
          <a:stretch>
            <a:fillRect/>
          </a:stretch>
        </p:blipFill>
        <p:spPr>
          <a:xfrm>
            <a:off x="15901035" y="17049115"/>
            <a:ext cx="6780530" cy="3780155"/>
          </a:xfrm>
          <a:prstGeom prst="rect">
            <a:avLst/>
          </a:prstGeom>
        </p:spPr>
      </p:pic>
      <p:sp>
        <p:nvSpPr>
          <p:cNvPr id="17" name="流程图: 手动输入 16"/>
          <p:cNvSpPr/>
          <p:nvPr/>
        </p:nvSpPr>
        <p:spPr>
          <a:xfrm rot="5400000">
            <a:off x="4035201" y="3006898"/>
            <a:ext cx="1160586" cy="6264186"/>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248 w 10000"/>
              <a:gd name="connsiteY0-2" fmla="*/ 1542 h 10000"/>
              <a:gd name="connsiteX1-3" fmla="*/ 10000 w 10000"/>
              <a:gd name="connsiteY1-4" fmla="*/ 0 h 10000"/>
              <a:gd name="connsiteX2-5" fmla="*/ 10000 w 10000"/>
              <a:gd name="connsiteY2-6" fmla="*/ 10000 h 10000"/>
              <a:gd name="connsiteX3-7" fmla="*/ 0 w 10000"/>
              <a:gd name="connsiteY3-8" fmla="*/ 10000 h 10000"/>
              <a:gd name="connsiteX4-9" fmla="*/ 248 w 10000"/>
              <a:gd name="connsiteY4-10" fmla="*/ 1542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248" y="1542"/>
                </a:moveTo>
                <a:lnTo>
                  <a:pt x="10000" y="0"/>
                </a:lnTo>
                <a:lnTo>
                  <a:pt x="10000" y="10000"/>
                </a:lnTo>
                <a:lnTo>
                  <a:pt x="0" y="10000"/>
                </a:lnTo>
                <a:cubicBezTo>
                  <a:pt x="83" y="7181"/>
                  <a:pt x="165" y="4361"/>
                  <a:pt x="248" y="1542"/>
                </a:cubicBezTo>
                <a:close/>
              </a:path>
            </a:pathLst>
          </a:custGeom>
          <a:gradFill>
            <a:gsLst>
              <a:gs pos="0">
                <a:schemeClr val="accent2"/>
              </a:gs>
              <a:gs pos="99000">
                <a:schemeClr val="accent2">
                  <a:lumMod val="40000"/>
                  <a:lumOff val="60000"/>
                </a:schemeClr>
              </a:gs>
            </a:gsLst>
            <a:lin ang="10800000" scaled="0"/>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 name="Rectangle 171"/>
          <p:cNvSpPr/>
          <p:nvPr/>
        </p:nvSpPr>
        <p:spPr>
          <a:xfrm>
            <a:off x="1483401" y="6657558"/>
            <a:ext cx="13110119" cy="72000"/>
          </a:xfrm>
          <a:prstGeom prst="rect">
            <a:avLst/>
          </a:prstGeom>
          <a:solidFill>
            <a:schemeClr val="accent2">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5">
              <a:solidFill>
                <a:schemeClr val="accent2"/>
              </a:solidFill>
              <a:latin typeface="Times New Roman" panose="02020603050405020304" pitchFamily="18" charset="0"/>
              <a:cs typeface="Times New Roman" panose="02020603050405020304" pitchFamily="18" charset="0"/>
            </a:endParaRPr>
          </a:p>
        </p:txBody>
      </p:sp>
      <p:sp>
        <p:nvSpPr>
          <p:cNvPr id="13" name="矩形 12"/>
          <p:cNvSpPr/>
          <p:nvPr/>
        </p:nvSpPr>
        <p:spPr>
          <a:xfrm>
            <a:off x="5157470" y="535305"/>
            <a:ext cx="18404840" cy="2553335"/>
          </a:xfrm>
          <a:prstGeom prst="rect">
            <a:avLst/>
          </a:prstGeom>
        </p:spPr>
        <p:txBody>
          <a:bodyPr wrap="square">
            <a:spAutoFit/>
          </a:bodyPr>
          <a:lstStyle/>
          <a:p>
            <a:pPr algn="ctr"/>
            <a:r>
              <a:rPr lang="en-US" altLang="zh-CN" sz="80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Evaluating Citation-Claim Consistency </a:t>
            </a:r>
            <a:endParaRPr lang="en-US" altLang="zh-CN" sz="80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80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in LLM-Generated Related Work</a:t>
            </a:r>
            <a:endParaRPr lang="en-US" altLang="zh-CN" sz="800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4" name="Rectangle 171"/>
          <p:cNvSpPr/>
          <p:nvPr/>
        </p:nvSpPr>
        <p:spPr>
          <a:xfrm flipV="1">
            <a:off x="1440144" y="42032407"/>
            <a:ext cx="27360000" cy="57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5">
              <a:latin typeface="Times New Roman" panose="02020603050405020304" pitchFamily="18" charset="0"/>
              <a:cs typeface="Times New Roman" panose="02020603050405020304" pitchFamily="18" charset="0"/>
            </a:endParaRPr>
          </a:p>
        </p:txBody>
      </p:sp>
      <p:sp>
        <p:nvSpPr>
          <p:cNvPr id="11" name="文本框 10"/>
          <p:cNvSpPr txBox="1"/>
          <p:nvPr/>
        </p:nvSpPr>
        <p:spPr>
          <a:xfrm>
            <a:off x="2191067" y="5626188"/>
            <a:ext cx="5099421" cy="1107996"/>
          </a:xfrm>
          <a:prstGeom prst="rect">
            <a:avLst/>
          </a:prstGeom>
          <a:noFill/>
        </p:spPr>
        <p:txBody>
          <a:bodyPr wrap="square">
            <a:spAutoFit/>
          </a:bodyPr>
          <a:lstStyle/>
          <a:p>
            <a:r>
              <a:rPr kumimoji="1" lang="en-US" altLang="zh-CN" sz="6600" b="1" dirty="0">
                <a:solidFill>
                  <a:schemeClr val="bg1"/>
                </a:solidFill>
                <a:latin typeface="Times New Roman" panose="02020603050405020304" pitchFamily="18" charset="0"/>
                <a:cs typeface="Times New Roman" panose="02020603050405020304" pitchFamily="18" charset="0"/>
              </a:rPr>
              <a:t>Introduction</a:t>
            </a:r>
            <a:endParaRPr lang="zh-CN" altLang="en-US" sz="6600" dirty="0">
              <a:solidFill>
                <a:schemeClr val="bg1"/>
              </a:solidFill>
            </a:endParaRPr>
          </a:p>
        </p:txBody>
      </p:sp>
      <p:sp>
        <p:nvSpPr>
          <p:cNvPr id="16" name="箭头: V 形 15"/>
          <p:cNvSpPr/>
          <p:nvPr/>
        </p:nvSpPr>
        <p:spPr>
          <a:xfrm>
            <a:off x="1719184" y="5934486"/>
            <a:ext cx="335905" cy="515813"/>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流程图: 手动输入 16"/>
          <p:cNvSpPr/>
          <p:nvPr/>
        </p:nvSpPr>
        <p:spPr>
          <a:xfrm rot="5400000">
            <a:off x="18786661" y="35675276"/>
            <a:ext cx="1160586" cy="6264186"/>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248 w 10000"/>
              <a:gd name="connsiteY0-2" fmla="*/ 1542 h 10000"/>
              <a:gd name="connsiteX1-3" fmla="*/ 10000 w 10000"/>
              <a:gd name="connsiteY1-4" fmla="*/ 0 h 10000"/>
              <a:gd name="connsiteX2-5" fmla="*/ 10000 w 10000"/>
              <a:gd name="connsiteY2-6" fmla="*/ 10000 h 10000"/>
              <a:gd name="connsiteX3-7" fmla="*/ 0 w 10000"/>
              <a:gd name="connsiteY3-8" fmla="*/ 10000 h 10000"/>
              <a:gd name="connsiteX4-9" fmla="*/ 248 w 10000"/>
              <a:gd name="connsiteY4-10" fmla="*/ 1542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248" y="1542"/>
                </a:moveTo>
                <a:lnTo>
                  <a:pt x="10000" y="0"/>
                </a:lnTo>
                <a:lnTo>
                  <a:pt x="10000" y="10000"/>
                </a:lnTo>
                <a:lnTo>
                  <a:pt x="0" y="10000"/>
                </a:lnTo>
                <a:cubicBezTo>
                  <a:pt x="83" y="7181"/>
                  <a:pt x="165" y="4361"/>
                  <a:pt x="248" y="1542"/>
                </a:cubicBezTo>
                <a:close/>
              </a:path>
            </a:pathLst>
          </a:custGeom>
          <a:gradFill>
            <a:gsLst>
              <a:gs pos="0">
                <a:schemeClr val="accent2"/>
              </a:gs>
              <a:gs pos="99000">
                <a:schemeClr val="accent2">
                  <a:lumMod val="40000"/>
                  <a:lumOff val="60000"/>
                </a:schemeClr>
              </a:gs>
            </a:gsLst>
            <a:lin ang="10800000" scaled="0"/>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9" name="Rectangle 171"/>
          <p:cNvSpPr/>
          <p:nvPr/>
        </p:nvSpPr>
        <p:spPr>
          <a:xfrm>
            <a:off x="16234861" y="39325936"/>
            <a:ext cx="13110119" cy="72000"/>
          </a:xfrm>
          <a:prstGeom prst="rect">
            <a:avLst/>
          </a:prstGeom>
          <a:solidFill>
            <a:schemeClr val="accent2">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5">
              <a:solidFill>
                <a:schemeClr val="accent2"/>
              </a:solidFill>
              <a:latin typeface="Times New Roman" panose="02020603050405020304" pitchFamily="18" charset="0"/>
              <a:cs typeface="Times New Roman" panose="02020603050405020304" pitchFamily="18" charset="0"/>
            </a:endParaRPr>
          </a:p>
        </p:txBody>
      </p:sp>
      <p:sp>
        <p:nvSpPr>
          <p:cNvPr id="20" name="文本框 19"/>
          <p:cNvSpPr txBox="1"/>
          <p:nvPr/>
        </p:nvSpPr>
        <p:spPr>
          <a:xfrm>
            <a:off x="16942527" y="38294566"/>
            <a:ext cx="5099421" cy="1107996"/>
          </a:xfrm>
          <a:prstGeom prst="rect">
            <a:avLst/>
          </a:prstGeom>
          <a:noFill/>
        </p:spPr>
        <p:txBody>
          <a:bodyPr wrap="square">
            <a:spAutoFit/>
          </a:bodyPr>
          <a:lstStyle/>
          <a:p>
            <a:r>
              <a:rPr kumimoji="1" lang="en-US" altLang="zh-CN" sz="6600" b="1" dirty="0">
                <a:solidFill>
                  <a:schemeClr val="bg1"/>
                </a:solidFill>
                <a:latin typeface="Times New Roman" panose="02020603050405020304" pitchFamily="18" charset="0"/>
                <a:cs typeface="Times New Roman" panose="02020603050405020304" pitchFamily="18" charset="0"/>
              </a:rPr>
              <a:t>Reference</a:t>
            </a:r>
            <a:endParaRPr kumimoji="1" lang="en-US" altLang="zh-CN" sz="6600" b="1" dirty="0">
              <a:solidFill>
                <a:schemeClr val="bg1"/>
              </a:solidFill>
              <a:latin typeface="Times New Roman" panose="02020603050405020304" pitchFamily="18" charset="0"/>
              <a:cs typeface="Times New Roman" panose="02020603050405020304" pitchFamily="18" charset="0"/>
            </a:endParaRPr>
          </a:p>
        </p:txBody>
      </p:sp>
      <p:sp>
        <p:nvSpPr>
          <p:cNvPr id="21" name="箭头: V 形 20"/>
          <p:cNvSpPr/>
          <p:nvPr/>
        </p:nvSpPr>
        <p:spPr>
          <a:xfrm>
            <a:off x="16470644" y="38602864"/>
            <a:ext cx="335905" cy="515813"/>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23" name="组合 22"/>
          <p:cNvGrpSpPr/>
          <p:nvPr/>
        </p:nvGrpSpPr>
        <p:grpSpPr>
          <a:xfrm>
            <a:off x="1483360" y="18961735"/>
            <a:ext cx="13110210" cy="1175385"/>
            <a:chOff x="2336" y="29861"/>
            <a:chExt cx="20646" cy="1851"/>
          </a:xfrm>
        </p:grpSpPr>
        <p:sp>
          <p:nvSpPr>
            <p:cNvPr id="24" name="流程图: 手动输入 16"/>
            <p:cNvSpPr/>
            <p:nvPr/>
          </p:nvSpPr>
          <p:spPr>
            <a:xfrm rot="5400000">
              <a:off x="6355" y="25843"/>
              <a:ext cx="1828" cy="9865"/>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248 w 10000"/>
                <a:gd name="connsiteY0-2" fmla="*/ 1542 h 10000"/>
                <a:gd name="connsiteX1-3" fmla="*/ 10000 w 10000"/>
                <a:gd name="connsiteY1-4" fmla="*/ 0 h 10000"/>
                <a:gd name="connsiteX2-5" fmla="*/ 10000 w 10000"/>
                <a:gd name="connsiteY2-6" fmla="*/ 10000 h 10000"/>
                <a:gd name="connsiteX3-7" fmla="*/ 0 w 10000"/>
                <a:gd name="connsiteY3-8" fmla="*/ 10000 h 10000"/>
                <a:gd name="connsiteX4-9" fmla="*/ 248 w 10000"/>
                <a:gd name="connsiteY4-10" fmla="*/ 1542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248" y="1542"/>
                  </a:moveTo>
                  <a:lnTo>
                    <a:pt x="10000" y="0"/>
                  </a:lnTo>
                  <a:lnTo>
                    <a:pt x="10000" y="10000"/>
                  </a:lnTo>
                  <a:lnTo>
                    <a:pt x="0" y="10000"/>
                  </a:lnTo>
                  <a:cubicBezTo>
                    <a:pt x="83" y="7181"/>
                    <a:pt x="165" y="4361"/>
                    <a:pt x="248" y="1542"/>
                  </a:cubicBezTo>
                  <a:close/>
                </a:path>
              </a:pathLst>
            </a:custGeom>
            <a:gradFill>
              <a:gsLst>
                <a:gs pos="0">
                  <a:schemeClr val="accent2"/>
                </a:gs>
                <a:gs pos="99000">
                  <a:schemeClr val="accent2">
                    <a:lumMod val="40000"/>
                    <a:lumOff val="60000"/>
                  </a:schemeClr>
                </a:gs>
              </a:gsLst>
              <a:lin ang="10800000" scaled="0"/>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5" name="Rectangle 171"/>
            <p:cNvSpPr/>
            <p:nvPr/>
          </p:nvSpPr>
          <p:spPr>
            <a:xfrm>
              <a:off x="2336" y="31592"/>
              <a:ext cx="20646" cy="113"/>
            </a:xfrm>
            <a:prstGeom prst="rect">
              <a:avLst/>
            </a:prstGeom>
            <a:solidFill>
              <a:schemeClr val="accent2">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5">
                <a:solidFill>
                  <a:schemeClr val="accent2"/>
                </a:solidFill>
                <a:latin typeface="Times New Roman" panose="02020603050405020304" pitchFamily="18" charset="0"/>
                <a:cs typeface="Times New Roman" panose="02020603050405020304" pitchFamily="18" charset="0"/>
              </a:endParaRPr>
            </a:p>
          </p:txBody>
        </p:sp>
        <p:sp>
          <p:nvSpPr>
            <p:cNvPr id="26" name="文本框 25"/>
            <p:cNvSpPr txBox="1"/>
            <p:nvPr/>
          </p:nvSpPr>
          <p:spPr>
            <a:xfrm>
              <a:off x="3450" y="29968"/>
              <a:ext cx="8031" cy="1745"/>
            </a:xfrm>
            <a:prstGeom prst="rect">
              <a:avLst/>
            </a:prstGeom>
            <a:noFill/>
          </p:spPr>
          <p:txBody>
            <a:bodyPr wrap="square">
              <a:spAutoFit/>
            </a:bodyPr>
            <a:lstStyle/>
            <a:p>
              <a:r>
                <a:rPr kumimoji="1" lang="en-US" altLang="zh-CN" sz="6600" b="1" dirty="0">
                  <a:solidFill>
                    <a:schemeClr val="bg1"/>
                  </a:solidFill>
                  <a:latin typeface="Times New Roman" panose="02020603050405020304" pitchFamily="18" charset="0"/>
                  <a:cs typeface="Times New Roman" panose="02020603050405020304" pitchFamily="18" charset="0"/>
                </a:rPr>
                <a:t>Method</a:t>
              </a:r>
              <a:endParaRPr lang="zh-CN" altLang="en-US" sz="6600" dirty="0">
                <a:solidFill>
                  <a:schemeClr val="bg1"/>
                </a:solidFill>
              </a:endParaRPr>
            </a:p>
          </p:txBody>
        </p:sp>
        <p:sp>
          <p:nvSpPr>
            <p:cNvPr id="27" name="箭头: V 形 26"/>
            <p:cNvSpPr/>
            <p:nvPr/>
          </p:nvSpPr>
          <p:spPr>
            <a:xfrm>
              <a:off x="2707" y="30453"/>
              <a:ext cx="529" cy="812"/>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394" y="633943"/>
            <a:ext cx="4503383" cy="2920827"/>
          </a:xfrm>
          <a:prstGeom prst="rect">
            <a:avLst/>
          </a:prstGeom>
        </p:spPr>
      </p:pic>
      <p:sp>
        <p:nvSpPr>
          <p:cNvPr id="8" name="文本框 7"/>
          <p:cNvSpPr txBox="1"/>
          <p:nvPr/>
        </p:nvSpPr>
        <p:spPr>
          <a:xfrm>
            <a:off x="22556470" y="630555"/>
            <a:ext cx="8197850" cy="2602230"/>
          </a:xfrm>
          <a:prstGeom prst="rect">
            <a:avLst/>
          </a:prstGeom>
          <a:noFill/>
        </p:spPr>
        <p:txBody>
          <a:bodyPr wrap="square" rtlCol="0">
            <a:spAutoFit/>
          </a:bodyPr>
          <a:lstStyle/>
          <a:p>
            <a:pPr algn="ctr">
              <a:lnSpc>
                <a:spcPct val="120000"/>
              </a:lnSpc>
            </a:pPr>
            <a:r>
              <a:rPr lang="en-US" altLang="zh-CN" sz="6000" b="1" dirty="0">
                <a:solidFill>
                  <a:srgbClr val="ED6D00"/>
                </a:solidFill>
              </a:rPr>
              <a:t>STA324</a:t>
            </a:r>
            <a:endParaRPr lang="en-US" altLang="zh-CN" sz="6000" b="1" dirty="0">
              <a:solidFill>
                <a:srgbClr val="ED6D00"/>
              </a:solidFill>
            </a:endParaRPr>
          </a:p>
          <a:p>
            <a:pPr algn="ctr">
              <a:lnSpc>
                <a:spcPct val="120000"/>
              </a:lnSpc>
            </a:pPr>
            <a:r>
              <a:rPr lang="zh-CN" altLang="en-US" sz="4400" b="1" i="0" dirty="0">
                <a:solidFill>
                  <a:srgbClr val="10383C"/>
                </a:solidFill>
                <a:effectLst/>
                <a:latin typeface="微软雅黑" panose="020B0503020204020204" pitchFamily="34" charset="-122"/>
                <a:ea typeface="微软雅黑" panose="020B0503020204020204" pitchFamily="34" charset="-122"/>
              </a:rPr>
              <a:t>大语言模型的原理与应用</a:t>
            </a:r>
            <a:endParaRPr lang="zh-CN" altLang="en-US" sz="4400" b="1" i="0" dirty="0">
              <a:solidFill>
                <a:srgbClr val="10383C"/>
              </a:solidFill>
              <a:effectLst/>
              <a:latin typeface="微软雅黑" panose="020B0503020204020204" pitchFamily="34" charset="-122"/>
              <a:ea typeface="微软雅黑" panose="020B0503020204020204" pitchFamily="34" charset="-122"/>
            </a:endParaRPr>
          </a:p>
          <a:p>
            <a:pPr algn="ctr">
              <a:lnSpc>
                <a:spcPct val="120000"/>
              </a:lnSpc>
            </a:pPr>
            <a:r>
              <a:rPr lang="en-US" altLang="zh-CN" sz="3200" dirty="0">
                <a:solidFill>
                  <a:srgbClr val="10383C"/>
                </a:solidFill>
                <a:latin typeface="Arial Black" panose="020B0A04020102020204" pitchFamily="34" charset="0"/>
              </a:rPr>
              <a:t> (2026 spring)</a:t>
            </a:r>
            <a:endParaRPr lang="en-US" altLang="zh-CN" sz="3200" dirty="0">
              <a:solidFill>
                <a:srgbClr val="10383C"/>
              </a:solidFill>
              <a:latin typeface="Arial Black" panose="020B0A04020102020204" pitchFamily="34" charset="0"/>
            </a:endParaRPr>
          </a:p>
        </p:txBody>
      </p:sp>
      <p:sp>
        <p:nvSpPr>
          <p:cNvPr id="33" name="矩形 8"/>
          <p:cNvSpPr/>
          <p:nvPr/>
        </p:nvSpPr>
        <p:spPr>
          <a:xfrm>
            <a:off x="4709160" y="3373755"/>
            <a:ext cx="19730720" cy="7689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7000"/>
              </a:lnSpc>
            </a:pPr>
            <a:r>
              <a:rPr lang="en-US" altLang="zh-CN" sz="4400" dirty="0">
                <a:solidFill>
                  <a:schemeClr val="tx1"/>
                </a:solidFill>
                <a:latin typeface="Arial" panose="020B0604020202020204" pitchFamily="34" charset="0"/>
                <a:cs typeface="Arial" panose="020B0604020202020204" pitchFamily="34" charset="0"/>
              </a:rPr>
              <a:t>Jintian Guo, Canxiang Jiang, Ying Ling, Jiaqi Ma</a:t>
            </a:r>
            <a:endParaRPr lang="en-US" altLang="zh-CN" sz="4400" dirty="0">
              <a:solidFill>
                <a:schemeClr val="tx1"/>
              </a:solidFill>
              <a:latin typeface="Arial" panose="020B0604020202020204" pitchFamily="34" charset="0"/>
              <a:cs typeface="Arial" panose="020B0604020202020204" pitchFamily="34" charset="0"/>
            </a:endParaRPr>
          </a:p>
        </p:txBody>
      </p:sp>
      <p:sp>
        <p:nvSpPr>
          <p:cNvPr id="37" name="矩形 8"/>
          <p:cNvSpPr/>
          <p:nvPr/>
        </p:nvSpPr>
        <p:spPr>
          <a:xfrm>
            <a:off x="4721860" y="4276725"/>
            <a:ext cx="19730720" cy="7689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7000"/>
              </a:lnSpc>
            </a:pPr>
            <a:r>
              <a:rPr lang="en-US" altLang="zh-CN" sz="4400" dirty="0">
                <a:solidFill>
                  <a:schemeClr val="tx1"/>
                </a:solidFill>
                <a:latin typeface="Arial" panose="020B0604020202020204" pitchFamily="34" charset="0"/>
                <a:cs typeface="Arial" panose="020B0604020202020204" pitchFamily="34" charset="0"/>
              </a:rPr>
              <a:t>Department of Statistics and Data Science</a:t>
            </a:r>
            <a:r>
              <a:rPr lang="en-US" altLang="zh-TW" sz="4400" dirty="0">
                <a:solidFill>
                  <a:schemeClr val="tx1"/>
                </a:solidFill>
                <a:latin typeface="Arial" panose="020B0604020202020204" pitchFamily="34" charset="0"/>
                <a:cs typeface="Arial" panose="020B0604020202020204" pitchFamily="34" charset="0"/>
              </a:rPr>
              <a:t>, SUSTech</a:t>
            </a:r>
            <a:endParaRPr lang="en-US" altLang="zh-TW" sz="4400" dirty="0">
              <a:solidFill>
                <a:schemeClr val="tx1"/>
              </a:solidFill>
              <a:latin typeface="Arial" panose="020B0604020202020204" pitchFamily="34" charset="0"/>
              <a:cs typeface="Arial" panose="020B0604020202020204" pitchFamily="34" charset="0"/>
            </a:endParaRPr>
          </a:p>
        </p:txBody>
      </p:sp>
      <p:sp>
        <p:nvSpPr>
          <p:cNvPr id="41" name="文本框 40"/>
          <p:cNvSpPr txBox="1"/>
          <p:nvPr/>
        </p:nvSpPr>
        <p:spPr>
          <a:xfrm>
            <a:off x="1461773" y="6926543"/>
            <a:ext cx="13110119" cy="11786870"/>
          </a:xfrm>
          <a:prstGeom prst="rect">
            <a:avLst/>
          </a:prstGeom>
          <a:noFill/>
        </p:spPr>
        <p:txBody>
          <a:bodyPr wrap="square">
            <a:spAutoFit/>
          </a:bodyPr>
          <a:lstStyle/>
          <a:p>
            <a:pPr algn="just"/>
            <a:r>
              <a:rPr lang="en-US" altLang="zh-CN" sz="4000" dirty="0">
                <a:latin typeface="Arial Regular" panose="020B0604020202020204" charset="0"/>
                <a:cs typeface="Arial Regular" panose="020B0604020202020204" charset="0"/>
              </a:rPr>
              <a:t>Large language model agents can generate fluent academic related work sections, but their citations may be fabricated, weakly related, or unable to support the surrounding claims [1,2]. This creates a risk that generated scientific text appears credible while its evidence structure is unreliable.</a:t>
            </a:r>
            <a:endParaRPr lang="en-US" altLang="zh-CN" sz="4000" dirty="0">
              <a:latin typeface="Arial Regular" panose="020B0604020202020204" charset="0"/>
              <a:cs typeface="Arial Regular" panose="020B0604020202020204" charset="0"/>
            </a:endParaRPr>
          </a:p>
          <a:p>
            <a:pPr algn="just"/>
            <a:endParaRPr lang="en-US" altLang="zh-CN" sz="4000" dirty="0">
              <a:latin typeface="Arial Regular" panose="020B0604020202020204" charset="0"/>
              <a:cs typeface="Arial Regular" panose="020B0604020202020204" charset="0"/>
            </a:endParaRPr>
          </a:p>
          <a:p>
            <a:pPr algn="just"/>
            <a:r>
              <a:rPr lang="en-US" altLang="zh-CN" sz="4000" dirty="0">
                <a:latin typeface="Arial Regular" panose="020B0604020202020204" charset="0"/>
                <a:cs typeface="Arial Regular" panose="020B0604020202020204" charset="0"/>
              </a:rPr>
              <a:t>This project studies citation-claim inconsistency in LLM-generated related work. We ask OpenClaw to regenerate missing related work sections and bibliographies from real ICLR 2026 papers, then evaluate whether the generated claims are supported by valid and appropriately placed citations.</a:t>
            </a:r>
            <a:endParaRPr lang="en-US" altLang="zh-CN" sz="4000" dirty="0">
              <a:latin typeface="Arial Regular" panose="020B0604020202020204" charset="0"/>
              <a:cs typeface="Arial Regular" panose="020B0604020202020204" charset="0"/>
            </a:endParaRPr>
          </a:p>
          <a:p>
            <a:pPr algn="just"/>
            <a:endParaRPr lang="en-US" altLang="zh-CN" sz="4000" dirty="0">
              <a:latin typeface="Arial Regular" panose="020B0604020202020204" charset="0"/>
              <a:cs typeface="Arial Regular" panose="020B0604020202020204" charset="0"/>
            </a:endParaRPr>
          </a:p>
          <a:p>
            <a:pPr algn="just"/>
            <a:r>
              <a:rPr lang="en-US" altLang="zh-CN" sz="4000" dirty="0">
                <a:latin typeface="Arial Regular" panose="020B0604020202020204" charset="0"/>
                <a:cs typeface="Arial Regular" panose="020B0604020202020204" charset="0"/>
              </a:rPr>
              <a:t>To support this study, we build a benchmark dataset and an evaluation pipeline for citation-grounded related work generation. We further conduct ablation experiments to analyze how skill, memory, model choice, and agent framework affect citation reliability.</a:t>
            </a:r>
            <a:endParaRPr lang="en-US" altLang="zh-CN" sz="4000" dirty="0">
              <a:latin typeface="Arial Regular" panose="020B0604020202020204" charset="0"/>
              <a:cs typeface="Arial Regular" panose="020B0604020202020204" charset="0"/>
            </a:endParaRPr>
          </a:p>
        </p:txBody>
      </p:sp>
      <p:sp>
        <p:nvSpPr>
          <p:cNvPr id="52" name="文本框 51"/>
          <p:cNvSpPr txBox="1"/>
          <p:nvPr/>
        </p:nvSpPr>
        <p:spPr>
          <a:xfrm>
            <a:off x="16123285" y="11682095"/>
            <a:ext cx="9219565" cy="583565"/>
          </a:xfrm>
          <a:prstGeom prst="rect">
            <a:avLst/>
          </a:prstGeom>
          <a:noFill/>
        </p:spPr>
        <p:txBody>
          <a:bodyPr wrap="square">
            <a:spAutoFit/>
          </a:bodyPr>
          <a:lstStyle/>
          <a:p>
            <a:r>
              <a:rPr lang="en-US" altLang="zh-CN" sz="3200" dirty="0">
                <a:solidFill>
                  <a:schemeClr val="tx1"/>
                </a:solidFill>
              </a:rPr>
              <a:t>Figure1. </a:t>
            </a:r>
            <a:r>
              <a:rPr lang="en-US" altLang="zh-CN" sz="3200" b="1" dirty="0">
                <a:solidFill>
                  <a:schemeClr val="tx1"/>
                </a:solidFill>
              </a:rPr>
              <a:t>Mean overall performance by method group.</a:t>
            </a:r>
            <a:endParaRPr lang="en-US" altLang="zh-CN" sz="3200" b="1" dirty="0">
              <a:solidFill>
                <a:schemeClr val="tx1"/>
              </a:solidFill>
            </a:endParaRPr>
          </a:p>
        </p:txBody>
      </p:sp>
      <p:sp>
        <p:nvSpPr>
          <p:cNvPr id="53" name="文本框 52"/>
          <p:cNvSpPr txBox="1"/>
          <p:nvPr/>
        </p:nvSpPr>
        <p:spPr>
          <a:xfrm>
            <a:off x="16101060" y="12340590"/>
            <a:ext cx="12997180" cy="4399915"/>
          </a:xfrm>
          <a:prstGeom prst="rect">
            <a:avLst/>
          </a:prstGeom>
          <a:noFill/>
        </p:spPr>
        <p:txBody>
          <a:bodyPr wrap="square">
            <a:spAutoFit/>
          </a:bodyPr>
          <a:lstStyle/>
          <a:p>
            <a:pPr algn="just"/>
            <a:r>
              <a:rPr lang="en-US" altLang="zh-CN" sz="4000" dirty="0">
                <a:latin typeface="Arial Regular" panose="020B0604020202020204" charset="0"/>
                <a:cs typeface="Arial Regular" panose="020B0604020202020204" charset="0"/>
              </a:rPr>
              <a:t>We first assessed the average overall performance of each method group. High memory achieved the highest mean overall score (8.12), while skill improved the baseline from 6.86 to 7.70. In contrast, changing only the model or agent produced unstable gains, suggesting that citation-grounded generation needs explicit constraints or reusable failure feedback.</a:t>
            </a:r>
            <a:endParaRPr lang="en-US" altLang="zh-CN" sz="4000" dirty="0">
              <a:latin typeface="Arial Regular" panose="020B0604020202020204" charset="0"/>
              <a:cs typeface="Arial Regular" panose="020B0604020202020204" charset="0"/>
            </a:endParaRPr>
          </a:p>
        </p:txBody>
      </p:sp>
      <p:sp>
        <p:nvSpPr>
          <p:cNvPr id="55" name="流程图: 手动输入 16"/>
          <p:cNvSpPr/>
          <p:nvPr/>
        </p:nvSpPr>
        <p:spPr>
          <a:xfrm rot="5400000">
            <a:off x="18786661" y="28369286"/>
            <a:ext cx="1160586" cy="6264186"/>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248 w 10000"/>
              <a:gd name="connsiteY0-2" fmla="*/ 1542 h 10000"/>
              <a:gd name="connsiteX1-3" fmla="*/ 10000 w 10000"/>
              <a:gd name="connsiteY1-4" fmla="*/ 0 h 10000"/>
              <a:gd name="connsiteX2-5" fmla="*/ 10000 w 10000"/>
              <a:gd name="connsiteY2-6" fmla="*/ 10000 h 10000"/>
              <a:gd name="connsiteX3-7" fmla="*/ 0 w 10000"/>
              <a:gd name="connsiteY3-8" fmla="*/ 10000 h 10000"/>
              <a:gd name="connsiteX4-9" fmla="*/ 248 w 10000"/>
              <a:gd name="connsiteY4-10" fmla="*/ 1542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248" y="1542"/>
                </a:moveTo>
                <a:lnTo>
                  <a:pt x="10000" y="0"/>
                </a:lnTo>
                <a:lnTo>
                  <a:pt x="10000" y="10000"/>
                </a:lnTo>
                <a:lnTo>
                  <a:pt x="0" y="10000"/>
                </a:lnTo>
                <a:cubicBezTo>
                  <a:pt x="83" y="7181"/>
                  <a:pt x="165" y="4361"/>
                  <a:pt x="248" y="1542"/>
                </a:cubicBezTo>
                <a:close/>
              </a:path>
            </a:pathLst>
          </a:custGeom>
          <a:gradFill>
            <a:gsLst>
              <a:gs pos="0">
                <a:schemeClr val="accent2"/>
              </a:gs>
              <a:gs pos="99000">
                <a:schemeClr val="accent2">
                  <a:lumMod val="40000"/>
                  <a:lumOff val="60000"/>
                </a:schemeClr>
              </a:gs>
            </a:gsLst>
            <a:lin ang="10800000" scaled="0"/>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6" name="Rectangle 171"/>
          <p:cNvSpPr/>
          <p:nvPr/>
        </p:nvSpPr>
        <p:spPr>
          <a:xfrm>
            <a:off x="16234861" y="32019946"/>
            <a:ext cx="13110119" cy="72000"/>
          </a:xfrm>
          <a:prstGeom prst="rect">
            <a:avLst/>
          </a:prstGeom>
          <a:solidFill>
            <a:schemeClr val="accent2">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5">
              <a:solidFill>
                <a:schemeClr val="accent2"/>
              </a:solidFill>
              <a:latin typeface="Times New Roman" panose="02020603050405020304" pitchFamily="18" charset="0"/>
              <a:cs typeface="Times New Roman" panose="02020603050405020304" pitchFamily="18" charset="0"/>
            </a:endParaRPr>
          </a:p>
        </p:txBody>
      </p:sp>
      <p:sp>
        <p:nvSpPr>
          <p:cNvPr id="57" name="文本框 56"/>
          <p:cNvSpPr txBox="1"/>
          <p:nvPr/>
        </p:nvSpPr>
        <p:spPr>
          <a:xfrm>
            <a:off x="16942527" y="30988576"/>
            <a:ext cx="5099421" cy="1107996"/>
          </a:xfrm>
          <a:prstGeom prst="rect">
            <a:avLst/>
          </a:prstGeom>
          <a:noFill/>
        </p:spPr>
        <p:txBody>
          <a:bodyPr wrap="square">
            <a:spAutoFit/>
          </a:bodyPr>
          <a:lstStyle/>
          <a:p>
            <a:r>
              <a:rPr kumimoji="1" lang="en-US" altLang="zh-CN" sz="6600" b="1" dirty="0">
                <a:solidFill>
                  <a:schemeClr val="bg1"/>
                </a:solidFill>
                <a:latin typeface="Times New Roman" panose="02020603050405020304" pitchFamily="18" charset="0"/>
                <a:cs typeface="Times New Roman" panose="02020603050405020304" pitchFamily="18" charset="0"/>
              </a:rPr>
              <a:t>Summary</a:t>
            </a:r>
            <a:endParaRPr kumimoji="1" lang="en-US" altLang="zh-CN" sz="6600" b="1" dirty="0">
              <a:solidFill>
                <a:schemeClr val="bg1"/>
              </a:solidFill>
              <a:latin typeface="Times New Roman" panose="02020603050405020304" pitchFamily="18" charset="0"/>
              <a:cs typeface="Times New Roman" panose="02020603050405020304" pitchFamily="18" charset="0"/>
            </a:endParaRPr>
          </a:p>
        </p:txBody>
      </p:sp>
      <p:sp>
        <p:nvSpPr>
          <p:cNvPr id="58" name="箭头: V 形 57"/>
          <p:cNvSpPr/>
          <p:nvPr/>
        </p:nvSpPr>
        <p:spPr>
          <a:xfrm>
            <a:off x="16470644" y="31296874"/>
            <a:ext cx="335905" cy="515813"/>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9" name="文本框 58"/>
          <p:cNvSpPr txBox="1"/>
          <p:nvPr/>
        </p:nvSpPr>
        <p:spPr>
          <a:xfrm>
            <a:off x="16235045" y="33011745"/>
            <a:ext cx="12863830" cy="5015865"/>
          </a:xfrm>
          <a:prstGeom prst="rect">
            <a:avLst/>
          </a:prstGeom>
          <a:noFill/>
        </p:spPr>
        <p:txBody>
          <a:bodyPr wrap="square" rtlCol="0">
            <a:spAutoFit/>
          </a:bodyPr>
          <a:lstStyle/>
          <a:p>
            <a:pPr marL="742950" indent="-742950" algn="just">
              <a:buFont typeface="+mj-lt"/>
              <a:buAutoNum type="arabicPeriod"/>
            </a:pPr>
            <a:r>
              <a:rPr lang="en-US" altLang="zh-CN" sz="4000" dirty="0">
                <a:latin typeface="Arial Regular" panose="020B0604020202020204" charset="0"/>
                <a:cs typeface="Arial Regular" panose="020B0604020202020204" charset="0"/>
              </a:rPr>
              <a:t>Baseline OpenClaw recognizes paper topics, but still has low content coverage, and overclaiming.</a:t>
            </a:r>
            <a:endParaRPr lang="en-US" altLang="zh-CN" sz="4000" dirty="0">
              <a:latin typeface="Arial Regular" panose="020B0604020202020204" charset="0"/>
              <a:cs typeface="Arial Regular" panose="020B0604020202020204" charset="0"/>
            </a:endParaRPr>
          </a:p>
          <a:p>
            <a:pPr marL="742950" indent="-742950" algn="just">
              <a:buFont typeface="+mj-lt"/>
              <a:buAutoNum type="arabicPeriod"/>
            </a:pPr>
            <a:r>
              <a:rPr lang="en-US" altLang="zh-CN" sz="4000" dirty="0">
                <a:latin typeface="Arial Regular" panose="020B0604020202020204" charset="0"/>
                <a:cs typeface="Arial Regular" panose="020B0604020202020204" charset="0"/>
              </a:rPr>
              <a:t>Skill improves citation quality by turning generation into a safer workflow, while memory improves overall score by reusing previous failures.</a:t>
            </a:r>
            <a:endParaRPr lang="en-US" altLang="zh-CN" sz="4000" dirty="0">
              <a:latin typeface="Arial Regular" panose="020B0604020202020204" charset="0"/>
              <a:cs typeface="Arial Regular" panose="020B0604020202020204" charset="0"/>
            </a:endParaRPr>
          </a:p>
          <a:p>
            <a:pPr marL="742950" indent="-742950" algn="just">
              <a:buFont typeface="+mj-lt"/>
              <a:buAutoNum type="arabicPeriod"/>
            </a:pPr>
            <a:r>
              <a:rPr lang="en-US" altLang="zh-CN" sz="4000" dirty="0">
                <a:latin typeface="Arial Regular" panose="020B0604020202020204" charset="0"/>
                <a:cs typeface="Arial Regular" panose="020B0604020202020204" charset="0"/>
              </a:rPr>
              <a:t>Changing the model or agent alone is unstable, showing that reliable citation generation requires explicit constraints and memory mechanisms.</a:t>
            </a:r>
            <a:endParaRPr lang="en-US" altLang="zh-CN" sz="4000" dirty="0">
              <a:latin typeface="Arial Regular" panose="020B0604020202020204" charset="0"/>
              <a:cs typeface="Arial Regular" panose="020B0604020202020204" charset="0"/>
            </a:endParaRPr>
          </a:p>
        </p:txBody>
      </p:sp>
      <p:sp>
        <p:nvSpPr>
          <p:cNvPr id="61" name="文本框 60"/>
          <p:cNvSpPr txBox="1"/>
          <p:nvPr/>
        </p:nvSpPr>
        <p:spPr>
          <a:xfrm>
            <a:off x="16101258" y="32286369"/>
            <a:ext cx="12750810" cy="706755"/>
          </a:xfrm>
          <a:prstGeom prst="rect">
            <a:avLst/>
          </a:prstGeom>
          <a:noFill/>
        </p:spPr>
        <p:txBody>
          <a:bodyPr wrap="square">
            <a:spAutoFit/>
          </a:bodyPr>
          <a:lstStyle/>
          <a:p>
            <a:pPr algn="just"/>
            <a:r>
              <a:rPr lang="en-US" altLang="zh-CN" sz="4000" dirty="0">
                <a:latin typeface="Arial Regular" panose="020B0604020202020204" charset="0"/>
                <a:cs typeface="Arial Regular" panose="020B0604020202020204" charset="0"/>
              </a:rPr>
              <a:t>Overall, our experiments lead to three main findings:</a:t>
            </a:r>
            <a:endParaRPr lang="en-US" altLang="zh-CN" sz="4000" dirty="0">
              <a:latin typeface="Arial Regular" panose="020B0604020202020204" charset="0"/>
              <a:cs typeface="Arial Regular" panose="020B0604020202020204" charset="0"/>
            </a:endParaRPr>
          </a:p>
        </p:txBody>
      </p:sp>
      <p:sp>
        <p:nvSpPr>
          <p:cNvPr id="64" name="文本框 63"/>
          <p:cNvSpPr txBox="1"/>
          <p:nvPr/>
        </p:nvSpPr>
        <p:spPr>
          <a:xfrm>
            <a:off x="16101060" y="39458900"/>
            <a:ext cx="13244830" cy="2553335"/>
          </a:xfrm>
          <a:prstGeom prst="rect">
            <a:avLst/>
          </a:prstGeom>
          <a:noFill/>
        </p:spPr>
        <p:txBody>
          <a:bodyPr wrap="square" rtlCol="0">
            <a:spAutoFit/>
          </a:bodyPr>
          <a:lstStyle/>
          <a:p>
            <a:pPr indent="0">
              <a:buFont typeface="+mj-lt"/>
              <a:buNone/>
            </a:pPr>
            <a:r>
              <a:rPr lang="en-US" altLang="zh-CN" sz="3200" dirty="0"/>
              <a:t>[1]  </a:t>
            </a:r>
            <a:r>
              <a:rPr lang="en-US" altLang="zh-CN" sz="3200" dirty="0">
                <a:sym typeface="+mn-ea"/>
              </a:rPr>
              <a:t>Ji, Ziwei, et al. "Survey of hallucination in natural language generation."                   	  ACM computing surveys 55.12 (2023): 1-38.</a:t>
            </a:r>
            <a:endParaRPr lang="en-US" altLang="zh-CN" sz="3200" dirty="0">
              <a:sym typeface="+mn-ea"/>
            </a:endParaRPr>
          </a:p>
          <a:p>
            <a:pPr indent="0">
              <a:buFont typeface="+mj-lt"/>
              <a:buNone/>
            </a:pPr>
            <a:r>
              <a:rPr lang="en-US" altLang="zh-CN" sz="3200" dirty="0">
                <a:sym typeface="+mn-ea"/>
              </a:rPr>
              <a:t>[2]  Mugaanyi, Joseph, et al. "Evaluation of large language model performance 	  and reliability for citations and references in scholarly writing: cross-	  			disciplinary study." Journal of Medical Internet Research 26 (2024): e52935.</a:t>
            </a:r>
            <a:endParaRPr lang="en-US" altLang="zh-CN" sz="3200" dirty="0">
              <a:sym typeface="+mn-ea"/>
            </a:endParaRPr>
          </a:p>
        </p:txBody>
      </p:sp>
      <p:sp>
        <p:nvSpPr>
          <p:cNvPr id="5" name="文本框 51"/>
          <p:cNvSpPr txBox="1"/>
          <p:nvPr/>
        </p:nvSpPr>
        <p:spPr>
          <a:xfrm>
            <a:off x="16123285" y="20867370"/>
            <a:ext cx="12974955" cy="1568450"/>
          </a:xfrm>
          <a:prstGeom prst="rect">
            <a:avLst/>
          </a:prstGeom>
          <a:noFill/>
        </p:spPr>
        <p:txBody>
          <a:bodyPr wrap="square">
            <a:spAutoFit/>
          </a:bodyPr>
          <a:p>
            <a:r>
              <a:rPr lang="en-US" altLang="zh-CN" sz="3200" dirty="0">
                <a:solidFill>
                  <a:schemeClr val="tx1"/>
                </a:solidFill>
              </a:rPr>
              <a:t>Figure 2. </a:t>
            </a:r>
            <a:r>
              <a:rPr lang="en-US" altLang="zh-CN" sz="3200" b="1" dirty="0">
                <a:solidFill>
                  <a:schemeClr val="tx1"/>
                </a:solidFill>
              </a:rPr>
              <a:t>Per-sample performance and memory ablation. (a)</a:t>
            </a:r>
            <a:r>
              <a:rPr lang="en-US" altLang="zh-CN" sz="3200" dirty="0">
                <a:solidFill>
                  <a:schemeClr val="tx1"/>
                </a:solidFill>
              </a:rPr>
              <a:t> Overall scores of all method groups across five paper-level tasks. </a:t>
            </a:r>
            <a:r>
              <a:rPr lang="en-US" altLang="zh-CN" sz="3200" b="1" dirty="0">
                <a:solidFill>
                  <a:schemeClr val="tx1"/>
                </a:solidFill>
              </a:rPr>
              <a:t>(b)</a:t>
            </a:r>
            <a:r>
              <a:rPr lang="en-US" altLang="zh-CN" sz="3200" dirty="0">
                <a:solidFill>
                  <a:schemeClr val="tx1"/>
                </a:solidFill>
              </a:rPr>
              <a:t> Overall scores of low-, medium-, and high-memory settings across five paper-level tasks.</a:t>
            </a:r>
            <a:endParaRPr lang="en-US" altLang="zh-CN" sz="3200" dirty="0">
              <a:solidFill>
                <a:schemeClr val="tx1"/>
              </a:solidFill>
            </a:endParaRPr>
          </a:p>
        </p:txBody>
      </p:sp>
      <p:sp>
        <p:nvSpPr>
          <p:cNvPr id="2" name="文本框 52"/>
          <p:cNvSpPr txBox="1"/>
          <p:nvPr/>
        </p:nvSpPr>
        <p:spPr>
          <a:xfrm>
            <a:off x="16101060" y="22611715"/>
            <a:ext cx="12997180" cy="8093710"/>
          </a:xfrm>
          <a:prstGeom prst="rect">
            <a:avLst/>
          </a:prstGeom>
          <a:noFill/>
        </p:spPr>
        <p:txBody>
          <a:bodyPr wrap="square">
            <a:spAutoFit/>
          </a:bodyPr>
          <a:p>
            <a:pPr algn="just"/>
            <a:r>
              <a:rPr lang="en-US" altLang="zh-CN" sz="4000" dirty="0">
                <a:latin typeface="Arial Regular" panose="020B0604020202020204" charset="0"/>
                <a:cs typeface="Arial Regular" panose="020B0604020202020204" charset="0"/>
              </a:rPr>
              <a:t>We further examined whether the average gains were consistent across individual papers. In Figure 2(a), method performance varies by task: medium memory performs best on PaperA, while high memory performs best on PaperB-E. This shows that memory is helpful, but its effect is not uniformly optimal across all samples.</a:t>
            </a:r>
            <a:endParaRPr lang="en-US" altLang="zh-CN" sz="4000" dirty="0">
              <a:latin typeface="Arial Regular" panose="020B0604020202020204" charset="0"/>
              <a:cs typeface="Arial Regular" panose="020B0604020202020204" charset="0"/>
            </a:endParaRPr>
          </a:p>
          <a:p>
            <a:pPr algn="just"/>
            <a:endParaRPr lang="en-US" altLang="zh-CN" sz="4000" dirty="0">
              <a:latin typeface="Arial Regular" panose="020B0604020202020204" charset="0"/>
              <a:cs typeface="Arial Regular" panose="020B0604020202020204" charset="0"/>
            </a:endParaRPr>
          </a:p>
          <a:p>
            <a:pPr algn="just"/>
            <a:r>
              <a:rPr lang="en-US" altLang="zh-CN" sz="4000" dirty="0">
                <a:latin typeface="Arial Regular" panose="020B0604020202020204" charset="0"/>
                <a:cs typeface="Arial Regular" panose="020B0604020202020204" charset="0"/>
              </a:rPr>
              <a:t>Figure 2(b) isolates the memory settings and shows a clearer improvement from low to high memory. The mean overall score increases from 6.80 under low memory to 8.12 under high memory. This suggests that memory helps reuse previous failure experience and recover missing related work themes.</a:t>
            </a:r>
            <a:endParaRPr lang="en-US" altLang="zh-CN" sz="4000" dirty="0">
              <a:latin typeface="Arial Regular" panose="020B0604020202020204" charset="0"/>
              <a:cs typeface="Arial Regular" panose="020B0604020202020204" charset="0"/>
            </a:endParaRPr>
          </a:p>
        </p:txBody>
      </p:sp>
      <p:grpSp>
        <p:nvGrpSpPr>
          <p:cNvPr id="22" name="组合 21"/>
          <p:cNvGrpSpPr/>
          <p:nvPr/>
        </p:nvGrpSpPr>
        <p:grpSpPr>
          <a:xfrm>
            <a:off x="1461770" y="34750375"/>
            <a:ext cx="13110210" cy="1174115"/>
            <a:chOff x="2522" y="54944"/>
            <a:chExt cx="20646" cy="1849"/>
          </a:xfrm>
        </p:grpSpPr>
        <p:sp>
          <p:nvSpPr>
            <p:cNvPr id="9" name="流程图: 手动输入 16"/>
            <p:cNvSpPr/>
            <p:nvPr/>
          </p:nvSpPr>
          <p:spPr>
            <a:xfrm rot="5400000">
              <a:off x="6541" y="50926"/>
              <a:ext cx="1828" cy="9865"/>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248 w 10000"/>
                <a:gd name="connsiteY0-2" fmla="*/ 1542 h 10000"/>
                <a:gd name="connsiteX1-3" fmla="*/ 10000 w 10000"/>
                <a:gd name="connsiteY1-4" fmla="*/ 0 h 10000"/>
                <a:gd name="connsiteX2-5" fmla="*/ 10000 w 10000"/>
                <a:gd name="connsiteY2-6" fmla="*/ 10000 h 10000"/>
                <a:gd name="connsiteX3-7" fmla="*/ 0 w 10000"/>
                <a:gd name="connsiteY3-8" fmla="*/ 10000 h 10000"/>
                <a:gd name="connsiteX4-9" fmla="*/ 248 w 10000"/>
                <a:gd name="connsiteY4-10" fmla="*/ 1542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248" y="1542"/>
                  </a:moveTo>
                  <a:lnTo>
                    <a:pt x="10000" y="0"/>
                  </a:lnTo>
                  <a:lnTo>
                    <a:pt x="10000" y="10000"/>
                  </a:lnTo>
                  <a:lnTo>
                    <a:pt x="0" y="10000"/>
                  </a:lnTo>
                  <a:cubicBezTo>
                    <a:pt x="83" y="7181"/>
                    <a:pt x="165" y="4361"/>
                    <a:pt x="248" y="1542"/>
                  </a:cubicBezTo>
                  <a:close/>
                </a:path>
              </a:pathLst>
            </a:custGeom>
            <a:gradFill>
              <a:gsLst>
                <a:gs pos="0">
                  <a:schemeClr val="accent2"/>
                </a:gs>
                <a:gs pos="99000">
                  <a:schemeClr val="accent2">
                    <a:lumMod val="40000"/>
                    <a:lumOff val="60000"/>
                  </a:schemeClr>
                </a:gs>
              </a:gsLst>
              <a:lin ang="10800000" scaled="0"/>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0" name="Rectangle 171"/>
            <p:cNvSpPr/>
            <p:nvPr/>
          </p:nvSpPr>
          <p:spPr>
            <a:xfrm>
              <a:off x="2522" y="56675"/>
              <a:ext cx="20646" cy="113"/>
            </a:xfrm>
            <a:prstGeom prst="rect">
              <a:avLst/>
            </a:prstGeom>
            <a:solidFill>
              <a:schemeClr val="accent2">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5">
                <a:solidFill>
                  <a:schemeClr val="accent2"/>
                </a:solidFill>
                <a:latin typeface="Times New Roman" panose="02020603050405020304" pitchFamily="18" charset="0"/>
                <a:cs typeface="Times New Roman" panose="02020603050405020304" pitchFamily="18" charset="0"/>
              </a:endParaRPr>
            </a:p>
          </p:txBody>
        </p:sp>
        <p:sp>
          <p:nvSpPr>
            <p:cNvPr id="12" name="文本框 11"/>
            <p:cNvSpPr txBox="1"/>
            <p:nvPr/>
          </p:nvSpPr>
          <p:spPr>
            <a:xfrm>
              <a:off x="3637" y="55051"/>
              <a:ext cx="8031" cy="1743"/>
            </a:xfrm>
            <a:prstGeom prst="rect">
              <a:avLst/>
            </a:prstGeom>
            <a:noFill/>
          </p:spPr>
          <p:txBody>
            <a:bodyPr wrap="square">
              <a:spAutoFit/>
            </a:bodyPr>
            <a:lstStyle/>
            <a:p>
              <a:r>
                <a:rPr kumimoji="1" lang="en-US" altLang="zh-CN" sz="6600" b="1" dirty="0">
                  <a:solidFill>
                    <a:schemeClr val="bg1"/>
                  </a:solidFill>
                  <a:latin typeface="Times New Roman" panose="02020603050405020304" pitchFamily="18" charset="0"/>
                  <a:cs typeface="Times New Roman" panose="02020603050405020304" pitchFamily="18" charset="0"/>
                </a:rPr>
                <a:t>Results</a:t>
              </a:r>
              <a:endParaRPr kumimoji="1" lang="en-US" altLang="zh-CN" sz="6600" b="1" dirty="0">
                <a:solidFill>
                  <a:schemeClr val="bg1"/>
                </a:solidFill>
                <a:latin typeface="Times New Roman" panose="02020603050405020304" pitchFamily="18" charset="0"/>
                <a:cs typeface="Times New Roman" panose="02020603050405020304" pitchFamily="18" charset="0"/>
              </a:endParaRPr>
            </a:p>
          </p:txBody>
        </p:sp>
        <p:sp>
          <p:nvSpPr>
            <p:cNvPr id="14" name="箭头: V 形 30"/>
            <p:cNvSpPr/>
            <p:nvPr/>
          </p:nvSpPr>
          <p:spPr>
            <a:xfrm>
              <a:off x="2894" y="55537"/>
              <a:ext cx="529" cy="812"/>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5" name="文本框 14"/>
          <p:cNvSpPr txBox="1"/>
          <p:nvPr/>
        </p:nvSpPr>
        <p:spPr>
          <a:xfrm>
            <a:off x="1483363" y="20388543"/>
            <a:ext cx="13110119" cy="14249400"/>
          </a:xfrm>
          <a:prstGeom prst="rect">
            <a:avLst/>
          </a:prstGeom>
          <a:noFill/>
        </p:spPr>
        <p:txBody>
          <a:bodyPr wrap="square">
            <a:spAutoFit/>
          </a:bodyPr>
          <a:lstStyle/>
          <a:p>
            <a:pPr algn="just"/>
            <a:r>
              <a:rPr lang="en-US" altLang="zh-CN" sz="4000" dirty="0">
                <a:latin typeface="Arial Regular" panose="020B0604020202020204" charset="0"/>
                <a:cs typeface="Arial Regular" panose="020B0604020202020204" charset="0"/>
              </a:rPr>
              <a:t>We construct </a:t>
            </a:r>
            <a:r>
              <a:rPr lang="en-US" altLang="zh-CN" sz="4000" b="1" dirty="0">
                <a:latin typeface="Arial Regular" panose="020B0604020202020204" charset="0"/>
                <a:cs typeface="Arial Regular" panose="020B0604020202020204" charset="0"/>
              </a:rPr>
              <a:t>RWGenBench-ICLR26</a:t>
            </a:r>
            <a:r>
              <a:rPr lang="en-US" altLang="zh-CN" sz="4000" dirty="0">
                <a:latin typeface="Arial Regular" panose="020B0604020202020204" charset="0"/>
                <a:cs typeface="Arial Regular" panose="020B0604020202020204" charset="0"/>
              </a:rPr>
              <a:t> from 262 real ICLR 2026 papers. For each paper, we retain the main body while removing the related work section, body citations, references, figures, and tables. The original related work section and its corresponding references are stored separately as gold targets.</a:t>
            </a:r>
            <a:endParaRPr lang="en-US" altLang="zh-CN" sz="4000" dirty="0">
              <a:latin typeface="Arial Regular" panose="020B0604020202020204" charset="0"/>
              <a:cs typeface="Arial Regular" panose="020B0604020202020204" charset="0"/>
            </a:endParaRPr>
          </a:p>
          <a:p>
            <a:pPr algn="just"/>
            <a:endParaRPr lang="en-US" altLang="zh-CN" sz="4000" dirty="0">
              <a:latin typeface="Arial Regular" panose="020B0604020202020204" charset="0"/>
              <a:cs typeface="Arial Regular" panose="020B0604020202020204" charset="0"/>
            </a:endParaRPr>
          </a:p>
          <a:p>
            <a:pPr algn="just"/>
            <a:r>
              <a:rPr lang="en-US" altLang="zh-CN" sz="4000" dirty="0">
                <a:latin typeface="Arial Regular" panose="020B0604020202020204" charset="0"/>
                <a:cs typeface="Arial Regular" panose="020B0604020202020204" charset="0"/>
              </a:rPr>
              <a:t>We use </a:t>
            </a:r>
            <a:r>
              <a:rPr lang="en-US" altLang="zh-CN" sz="4000" b="1" dirty="0">
                <a:latin typeface="Arial Regular" panose="020B0604020202020204" charset="0"/>
                <a:cs typeface="Arial Regular" panose="020B0604020202020204" charset="0"/>
              </a:rPr>
              <a:t>RWEval</a:t>
            </a:r>
            <a:r>
              <a:rPr lang="en-US" altLang="zh-CN" sz="4000" dirty="0">
                <a:latin typeface="Arial Regular" panose="020B0604020202020204" charset="0"/>
                <a:cs typeface="Arial Regular" panose="020B0604020202020204" charset="0"/>
              </a:rPr>
              <a:t> to compare candidate related work and candidate references against the gold related work and gold references. The evaluator outputs a structured JSON report, a human-readable Markdown report, and an overall score from 0 to 10. It diagnoses missing key points, hallucinated references, bibliographic errors, unsupported citation-claim pairs, overclaiming, topic-structure issues, and length redundancy.</a:t>
            </a:r>
            <a:endParaRPr lang="en-US" altLang="zh-CN" sz="4000" dirty="0">
              <a:latin typeface="Arial Regular" panose="020B0604020202020204" charset="0"/>
              <a:cs typeface="Arial Regular" panose="020B0604020202020204" charset="0"/>
            </a:endParaRPr>
          </a:p>
          <a:p>
            <a:pPr algn="just"/>
            <a:endParaRPr lang="en-US" altLang="zh-CN" sz="4000" dirty="0">
              <a:latin typeface="Arial Regular" panose="020B0604020202020204" charset="0"/>
              <a:cs typeface="Arial Regular" panose="020B0604020202020204" charset="0"/>
            </a:endParaRPr>
          </a:p>
          <a:p>
            <a:pPr algn="just"/>
            <a:r>
              <a:rPr lang="en-US" altLang="zh-CN" sz="4000" dirty="0">
                <a:latin typeface="Arial Regular" panose="020B0604020202020204" charset="0"/>
                <a:cs typeface="Arial Regular" panose="020B0604020202020204" charset="0"/>
              </a:rPr>
              <a:t>The overall score is then computed from seven main dimensions: content coverage, citation quality, relevance, thematic structure, synthesis quality, writing quality, and length conciseness. Citation quality is then further decomposed into citation validity, citation appropriate-ness, citation coverage, citation placement, and citation topic consistency.</a:t>
            </a:r>
            <a:endParaRPr lang="en-US" altLang="zh-CN" sz="4000" dirty="0">
              <a:latin typeface="Arial Regular" panose="020B0604020202020204" charset="0"/>
              <a:cs typeface="Arial Regular" panose="020B0604020202020204" charset="0"/>
            </a:endParaRPr>
          </a:p>
        </p:txBody>
      </p:sp>
      <p:sp>
        <p:nvSpPr>
          <p:cNvPr id="32" name="文本框 31"/>
          <p:cNvSpPr txBox="1"/>
          <p:nvPr/>
        </p:nvSpPr>
        <p:spPr>
          <a:xfrm>
            <a:off x="1483360" y="36191190"/>
            <a:ext cx="13089255" cy="5631180"/>
          </a:xfrm>
          <a:prstGeom prst="rect">
            <a:avLst/>
          </a:prstGeom>
          <a:noFill/>
        </p:spPr>
        <p:txBody>
          <a:bodyPr wrap="square" rtlCol="0" anchor="t">
            <a:spAutoFit/>
          </a:bodyPr>
          <a:p>
            <a:pPr algn="just"/>
            <a:r>
              <a:rPr lang="en-US" altLang="zh-CN" sz="4000" dirty="0">
                <a:latin typeface="Arial Regular" panose="020B0604020202020204" charset="0"/>
                <a:cs typeface="Arial Regular" panose="020B0604020202020204" charset="0"/>
                <a:sym typeface="+mn-ea"/>
              </a:rPr>
              <a:t>We evaluate five papers using four groups of ablation experiments: (1) a baseline OpenClaw setting without skill or memory, (2) a skill-enhanced workflow with candidate paper screening, reference validity checking, and citation-claim pair checking, (3) low-, medium-, and high-memory settings that convert previous failures into reusable experience, and (4) alternative model or agent configurations, including Claude Code(CC) with DeepSeek(DS) and OpenClaw(OC) with Kimi.</a:t>
            </a:r>
            <a:endParaRPr lang="en-US" altLang="zh-CN" sz="4000" dirty="0">
              <a:latin typeface="Arial Regular" panose="020B0604020202020204" charset="0"/>
              <a:cs typeface="Arial Regular" panose="020B0604020202020204" charset="0"/>
              <a:sym typeface="+mn-ea"/>
            </a:endParaRPr>
          </a:p>
        </p:txBody>
      </p:sp>
      <p:pic>
        <p:nvPicPr>
          <p:cNvPr id="997329178" name="图片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15767050" y="5558790"/>
            <a:ext cx="12997180" cy="6191885"/>
          </a:xfrm>
          <a:prstGeom prst="rect">
            <a:avLst/>
          </a:prstGeom>
          <a:noFill/>
          <a:ln>
            <a:noFill/>
          </a:ln>
        </p:spPr>
      </p:pic>
      <p:pic>
        <p:nvPicPr>
          <p:cNvPr id="1901411394" name="图片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22753320" y="17063085"/>
            <a:ext cx="6187371" cy="3780000"/>
          </a:xfrm>
          <a:prstGeom prst="rect">
            <a:avLst/>
          </a:prstGeom>
          <a:noFill/>
          <a:ln>
            <a:noFill/>
          </a:ln>
        </p:spPr>
      </p:pic>
      <p:sp>
        <p:nvSpPr>
          <p:cNvPr id="40" name="文本框 39"/>
          <p:cNvSpPr txBox="1"/>
          <p:nvPr/>
        </p:nvSpPr>
        <p:spPr>
          <a:xfrm>
            <a:off x="15824835" y="16827500"/>
            <a:ext cx="4493895" cy="2418715"/>
          </a:xfrm>
          <a:prstGeom prst="rect">
            <a:avLst/>
          </a:prstGeom>
          <a:noFill/>
        </p:spPr>
        <p:txBody>
          <a:bodyPr wrap="square" rtlCol="0">
            <a:noAutofit/>
          </a:bodyPr>
          <a:p>
            <a:r>
              <a:rPr lang="en-US" altLang="zh-CN" sz="4400" b="1"/>
              <a:t>a</a:t>
            </a:r>
            <a:endParaRPr lang="en-US" altLang="zh-CN" sz="4400" b="1"/>
          </a:p>
        </p:txBody>
      </p:sp>
      <p:sp>
        <p:nvSpPr>
          <p:cNvPr id="46" name="文本框 45"/>
          <p:cNvSpPr txBox="1"/>
          <p:nvPr/>
        </p:nvSpPr>
        <p:spPr>
          <a:xfrm>
            <a:off x="22676485" y="16808450"/>
            <a:ext cx="4493895" cy="2418715"/>
          </a:xfrm>
          <a:prstGeom prst="rect">
            <a:avLst/>
          </a:prstGeom>
          <a:noFill/>
        </p:spPr>
        <p:txBody>
          <a:bodyPr wrap="square" rtlCol="0">
            <a:noAutofit/>
          </a:bodyPr>
          <a:p>
            <a:r>
              <a:rPr lang="en-US" altLang="zh-CN" sz="4400" b="1"/>
              <a:t>b</a:t>
            </a:r>
            <a:endParaRPr lang="en-US" altLang="zh-CN" sz="4400" b="1"/>
          </a:p>
        </p:txBody>
      </p:sp>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noFill/>
        <a:ln w="57150" cap="flat" cmpd="sng" algn="ctr">
          <a:solidFill>
            <a:sysClr val="windowText" lastClr="000000"/>
          </a:solidFill>
          <a:prstDash val="solid"/>
          <a:miter lim="800000"/>
          <a:headEnd type="triangle" w="lg" len="lg"/>
          <a:tailEnd type="none" w="lg" len="lg"/>
        </a:ln>
      </a:spPr>
      <a:body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4666</Words>
  <Application>WPS 演示</Application>
  <PresentationFormat>自定义</PresentationFormat>
  <Paragraphs>58</Paragraphs>
  <Slides>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vt:i4>
      </vt:variant>
    </vt:vector>
  </HeadingPairs>
  <TitlesOfParts>
    <vt:vector size="14" baseType="lpstr">
      <vt:lpstr>Arial</vt:lpstr>
      <vt:lpstr>宋体</vt:lpstr>
      <vt:lpstr>Wingdings</vt:lpstr>
      <vt:lpstr>Times New Roman</vt:lpstr>
      <vt:lpstr>微软雅黑</vt:lpstr>
      <vt:lpstr>Arial Black</vt:lpstr>
      <vt:lpstr>Arial Regular</vt:lpstr>
      <vt:lpstr>Calibri</vt:lpstr>
      <vt:lpstr>Arial Unicode MS</vt:lpstr>
      <vt:lpstr>等线 Light</vt:lpstr>
      <vt:lpstr>Calibri Light</vt:lpstr>
      <vt:lpstr>等线</vt:lpstr>
      <vt:lpstr>Office 主题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boss</dc:creator>
  <cp:lastModifiedBy>Jintian GUO</cp:lastModifiedBy>
  <cp:revision>159</cp:revision>
  <dcterms:created xsi:type="dcterms:W3CDTF">2024-12-02T09:17:00Z</dcterms:created>
  <dcterms:modified xsi:type="dcterms:W3CDTF">2026-06-03T08:28:48Z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CA92CEB1BE1E48B296FA731C1057D008_13</vt:lpwstr>
  </property>
  <property fmtid="{D5CDD505-2E9C-101B-9397-08002B2CF9AE}" pid="3" name="KSOProductBuildVer">
    <vt:lpwstr>2052-12.1.0.26375</vt:lpwstr>
  </property>
</Properties>
</file>